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39"/>
    <p:sldId id="277" r:id="rId40"/>
    <p:sldId id="278" r:id="rId41"/>
    <p:sldId id="279" r:id="rId42"/>
    <p:sldId id="280" r:id="rId43"/>
    <p:sldId id="281" r:id="rId44"/>
    <p:sldId id="282" r:id="rId45"/>
  </p:sldIdLst>
  <p:sldSz cx="12192000" cy="6858000"/>
  <p:notesSz cx="6858000" cy="9144000"/>
  <p:embeddedFontLst>
    <p:embeddedFont>
      <p:font typeface="Raleway" pitchFamily="2" charset="77"/>
      <p:regular r:id="rId23"/>
      <p:bold r:id="rId24"/>
      <p:italic r:id="rId25"/>
      <p:boldItalic r:id="rId26"/>
    </p:embeddedFont>
    <p:embeddedFont>
      <p:font typeface="Raleway ExtraBold" pitchFamily="2" charset="77"/>
      <p:bold r:id="rId27"/>
      <p:italic r:id="rId28"/>
      <p:boldItalic r:id="rId29"/>
    </p:embeddedFont>
    <p:embeddedFont>
      <p:font typeface="Raleway SemiBold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gJIPsVM9PdwC/BelE/w58o2aAl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598"/>
  </p:normalViewPr>
  <p:slideViewPr>
    <p:cSldViewPr snapToGrid="0">
      <p:cViewPr varScale="1">
        <p:scale>
          <a:sx n="119" d="100"/>
          <a:sy n="119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font" Target="fonts/font11.fntdata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120" Type="http://customschemas.google.com/relationships/presentationmetadata" Target="metadata"/><Relationship Id="rId121" Type="http://schemas.openxmlformats.org/officeDocument/2006/relationships/presProps" Target="presProps.xml"/><Relationship Id="rId122" Type="http://schemas.openxmlformats.org/officeDocument/2006/relationships/viewProps" Target="viewProps.xml"/><Relationship Id="rId123" Type="http://schemas.openxmlformats.org/officeDocument/2006/relationships/theme" Target="theme/theme1.xml"/><Relationship Id="rId1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s://cheatsheetseries.owasp.org/cheatsheets/Authorization_Cheat_Sheet.html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dc543835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89dc54383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>
                <a:hlinkClick r:id="rId3"/>
              </a:rPr>
              <a:t>OWASP Authorization Cheat Sheet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cheatsheetseries.owasp.org</a:t>
            </a:r>
            <a:r>
              <a:rPr lang="en-US" dirty="0"/>
              <a:t>/</a:t>
            </a:r>
            <a:r>
              <a:rPr lang="en-US" dirty="0" err="1"/>
              <a:t>cheatsheets</a:t>
            </a:r>
            <a:r>
              <a:rPr lang="en-US" dirty="0"/>
              <a:t>/</a:t>
            </a:r>
            <a:r>
              <a:rPr lang="en-US" dirty="0" err="1"/>
              <a:t>Authorization_Cheat_Sheet.html?utm_source</a:t>
            </a:r>
            <a:r>
              <a:rPr lang="en-US" dirty="0"/>
              <a:t>=</a:t>
            </a:r>
            <a:r>
              <a:rPr lang="en-US" dirty="0" err="1"/>
              <a:t>chatgpt.com</a:t>
            </a:r>
            <a:endParaRPr lang="en-US" dirty="0"/>
          </a:p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 err="1"/>
              <a:t>WorkOS</a:t>
            </a:r>
            <a:r>
              <a:rPr lang="en-US" b="1" dirty="0"/>
              <a:t> — OAuth and JWT Best Practices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workos.com</a:t>
            </a:r>
            <a:r>
              <a:rPr lang="en-US" dirty="0"/>
              <a:t>/blog/</a:t>
            </a:r>
            <a:r>
              <a:rPr lang="en-US" dirty="0" err="1"/>
              <a:t>oauth-and-jwt-how-to-use-and-best-practices?utm_source</a:t>
            </a:r>
            <a:r>
              <a:rPr lang="en-US" dirty="0"/>
              <a:t>=</a:t>
            </a:r>
            <a:r>
              <a:rPr lang="en-US" dirty="0" err="1"/>
              <a:t>chatgpt.com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4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26406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Title Slide">
  <p:cSld name="White 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9dc543835_0_273"/>
          <p:cNvSpPr/>
          <p:nvPr/>
        </p:nvSpPr>
        <p:spPr>
          <a:xfrm>
            <a:off x="0" y="6540075"/>
            <a:ext cx="453300" cy="3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89dc543835_0_273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89dc543835_0_273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g389dc543835_0_2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47526" y="0"/>
            <a:ext cx="2730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g389dc543835_0_2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27" y="6575025"/>
            <a:ext cx="274320" cy="163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 Layout 4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32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1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127"/>
          <p:cNvSpPr txBox="1">
            <a:spLocks noGrp="1"/>
          </p:cNvSpPr>
          <p:nvPr>
            <p:ph type="body" idx="1"/>
          </p:nvPr>
        </p:nvSpPr>
        <p:spPr>
          <a:xfrm>
            <a:off x="838200" y="1239520"/>
            <a:ext cx="10515600" cy="493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◉"/>
              <a:defRPr sz="2800"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◉"/>
              <a:defRPr sz="2200"/>
            </a:lvl2pPr>
            <a:lvl3pPr marL="1371600" lvl="2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◉"/>
              <a:defRPr sz="1800"/>
            </a:lvl3pPr>
            <a:lvl4pPr marL="1828800" lvl="3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4pPr>
            <a:lvl5pPr marL="2286000" lvl="4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12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lide">
  <p:cSld name="Title_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6" descr="A logo with yellow and purple lines  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0505966" y="5457001"/>
            <a:ext cx="1267549" cy="13215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6"/>
          <p:cNvSpPr/>
          <p:nvPr/>
        </p:nvSpPr>
        <p:spPr>
          <a:xfrm>
            <a:off x="0" y="0"/>
            <a:ext cx="12192000" cy="5339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470F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26"/>
          <p:cNvSpPr txBox="1">
            <a:spLocks noGrp="1"/>
          </p:cNvSpPr>
          <p:nvPr>
            <p:ph type="title"/>
          </p:nvPr>
        </p:nvSpPr>
        <p:spPr>
          <a:xfrm>
            <a:off x="845457" y="2712199"/>
            <a:ext cx="10515600" cy="64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6"/>
          <p:cNvSpPr txBox="1">
            <a:spLocks noGrp="1"/>
          </p:cNvSpPr>
          <p:nvPr>
            <p:ph type="body" idx="1"/>
          </p:nvPr>
        </p:nvSpPr>
        <p:spPr>
          <a:xfrm>
            <a:off x="845457" y="3359850"/>
            <a:ext cx="10515600" cy="91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6"/>
          <p:cNvSpPr txBox="1">
            <a:spLocks noGrp="1"/>
          </p:cNvSpPr>
          <p:nvPr>
            <p:ph type="body" idx="2"/>
          </p:nvPr>
        </p:nvSpPr>
        <p:spPr>
          <a:xfrm>
            <a:off x="2244044" y="4639940"/>
            <a:ext cx="9117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26"/>
          <p:cNvSpPr/>
          <p:nvPr/>
        </p:nvSpPr>
        <p:spPr>
          <a:xfrm>
            <a:off x="3812207" y="5405040"/>
            <a:ext cx="1440204" cy="14239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6"/>
          <p:cNvSpPr/>
          <p:nvPr/>
        </p:nvSpPr>
        <p:spPr>
          <a:xfrm>
            <a:off x="468429" y="5457001"/>
            <a:ext cx="1822317" cy="13215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26" descr="A yellow and black rectangle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3016" y="5594997"/>
            <a:ext cx="2812345" cy="104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_Slide">
  <p:cSld name="Contact_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7"/>
          <p:cNvSpPr/>
          <p:nvPr/>
        </p:nvSpPr>
        <p:spPr>
          <a:xfrm>
            <a:off x="0" y="1"/>
            <a:ext cx="12192000" cy="4297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37"/>
          <p:cNvSpPr/>
          <p:nvPr/>
        </p:nvSpPr>
        <p:spPr>
          <a:xfrm>
            <a:off x="0" y="4289047"/>
            <a:ext cx="12192000" cy="2942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37"/>
          <p:cNvSpPr txBox="1">
            <a:spLocks noGrp="1"/>
          </p:cNvSpPr>
          <p:nvPr>
            <p:ph type="body" idx="1"/>
          </p:nvPr>
        </p:nvSpPr>
        <p:spPr>
          <a:xfrm>
            <a:off x="418551" y="6232244"/>
            <a:ext cx="2744617" cy="20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 b="0">
                <a:solidFill>
                  <a:srgbClr val="262626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7"/>
          <p:cNvSpPr txBox="1">
            <a:spLocks noGrp="1"/>
          </p:cNvSpPr>
          <p:nvPr>
            <p:ph type="body" idx="2"/>
          </p:nvPr>
        </p:nvSpPr>
        <p:spPr>
          <a:xfrm>
            <a:off x="418551" y="6383668"/>
            <a:ext cx="2744617" cy="18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9698"/>
              </a:buClr>
              <a:buSzPts val="700"/>
              <a:buNone/>
              <a:defRPr sz="700">
                <a:solidFill>
                  <a:srgbClr val="99969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37"/>
          <p:cNvSpPr txBox="1">
            <a:spLocks noGrp="1"/>
          </p:cNvSpPr>
          <p:nvPr>
            <p:ph type="title"/>
          </p:nvPr>
        </p:nvSpPr>
        <p:spPr>
          <a:xfrm>
            <a:off x="838200" y="747091"/>
            <a:ext cx="8143754" cy="59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 ExtraBold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7"/>
          <p:cNvSpPr txBox="1">
            <a:spLocks noGrp="1"/>
          </p:cNvSpPr>
          <p:nvPr>
            <p:ph type="body" idx="3"/>
          </p:nvPr>
        </p:nvSpPr>
        <p:spPr>
          <a:xfrm>
            <a:off x="838200" y="1342665"/>
            <a:ext cx="8143754" cy="31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3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1" name="Google Shape;111;p137" descr="A logo with yellow and purple lines  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1115230" y="5965371"/>
            <a:ext cx="762634" cy="7951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7"/>
          <p:cNvSpPr/>
          <p:nvPr/>
        </p:nvSpPr>
        <p:spPr>
          <a:xfrm>
            <a:off x="7842666" y="5926300"/>
            <a:ext cx="866512" cy="8567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7"/>
          <p:cNvSpPr/>
          <p:nvPr/>
        </p:nvSpPr>
        <p:spPr>
          <a:xfrm>
            <a:off x="6091433" y="5957103"/>
            <a:ext cx="1096415" cy="7951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7" descr="A yellow and black rectangle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57823" y="6021963"/>
            <a:ext cx="1692075" cy="6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1_Custom Layout 2 1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2"/>
          <p:cNvSpPr/>
          <p:nvPr/>
        </p:nvSpPr>
        <p:spPr>
          <a:xfrm rot="10800000">
            <a:off x="-4" y="914914"/>
            <a:ext cx="12192003" cy="5028170"/>
          </a:xfrm>
          <a:custGeom>
            <a:avLst/>
            <a:gdLst/>
            <a:ahLst/>
            <a:cxnLst/>
            <a:rect l="l" t="t" r="r" b="b"/>
            <a:pathLst>
              <a:path w="12192000" h="5028170" extrusionOk="0">
                <a:moveTo>
                  <a:pt x="7949170" y="5028170"/>
                </a:moveTo>
                <a:lnTo>
                  <a:pt x="4242831" y="5028170"/>
                </a:lnTo>
                <a:lnTo>
                  <a:pt x="4057552" y="4657612"/>
                </a:lnTo>
                <a:lnTo>
                  <a:pt x="0" y="4657612"/>
                </a:lnTo>
                <a:lnTo>
                  <a:pt x="0" y="4195708"/>
                </a:lnTo>
                <a:lnTo>
                  <a:pt x="0" y="3193429"/>
                </a:lnTo>
                <a:lnTo>
                  <a:pt x="0" y="3023614"/>
                </a:lnTo>
                <a:lnTo>
                  <a:pt x="0" y="2561710"/>
                </a:lnTo>
                <a:lnTo>
                  <a:pt x="0" y="2004556"/>
                </a:lnTo>
                <a:lnTo>
                  <a:pt x="0" y="1559431"/>
                </a:lnTo>
                <a:lnTo>
                  <a:pt x="0" y="370558"/>
                </a:lnTo>
                <a:lnTo>
                  <a:pt x="4057550" y="370558"/>
                </a:lnTo>
                <a:lnTo>
                  <a:pt x="4242830" y="0"/>
                </a:lnTo>
                <a:lnTo>
                  <a:pt x="7949169" y="0"/>
                </a:lnTo>
                <a:lnTo>
                  <a:pt x="8134447" y="370558"/>
                </a:lnTo>
                <a:lnTo>
                  <a:pt x="12192000" y="370558"/>
                </a:lnTo>
                <a:lnTo>
                  <a:pt x="12192000" y="1559431"/>
                </a:lnTo>
                <a:lnTo>
                  <a:pt x="12192000" y="1559431"/>
                </a:lnTo>
                <a:lnTo>
                  <a:pt x="12192000" y="2561710"/>
                </a:lnTo>
                <a:lnTo>
                  <a:pt x="12192000" y="2561710"/>
                </a:lnTo>
                <a:lnTo>
                  <a:pt x="12192000" y="4195708"/>
                </a:lnTo>
                <a:lnTo>
                  <a:pt x="12192000" y="4195708"/>
                </a:lnTo>
                <a:lnTo>
                  <a:pt x="12192000" y="4657612"/>
                </a:lnTo>
                <a:lnTo>
                  <a:pt x="8134449" y="465761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32"/>
          <p:cNvSpPr txBox="1">
            <a:spLocks noGrp="1"/>
          </p:cNvSpPr>
          <p:nvPr>
            <p:ph type="title"/>
          </p:nvPr>
        </p:nvSpPr>
        <p:spPr>
          <a:xfrm>
            <a:off x="838200" y="2486025"/>
            <a:ext cx="10515600" cy="708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2"/>
          <p:cNvSpPr txBox="1">
            <a:spLocks noGrp="1"/>
          </p:cNvSpPr>
          <p:nvPr>
            <p:ph type="body" idx="1"/>
          </p:nvPr>
        </p:nvSpPr>
        <p:spPr>
          <a:xfrm>
            <a:off x="838200" y="3194048"/>
            <a:ext cx="10515600" cy="92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32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rgbClr val="990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32"/>
          <p:cNvSpPr txBox="1">
            <a:spLocks noGrp="1"/>
          </p:cNvSpPr>
          <p:nvPr>
            <p:ph type="sldNum" idx="12"/>
          </p:nvPr>
        </p:nvSpPr>
        <p:spPr>
          <a:xfrm>
            <a:off x="-94267" y="6259561"/>
            <a:ext cx="428730" cy="27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72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44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" name="Google Shape;12;p1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" name="Google Shape;13;p1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" name="Google Shape;14;p1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63" r:id="rId5"/>
    <p:sldLayoutId id="214748366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bit.ly/jason-rpi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loudflare.com/learning/cdn/what-is-a-cdn/" TargetMode="External"/><Relationship Id="rId4" Type="http://schemas.openxmlformats.org/officeDocument/2006/relationships/hyperlink" Target="https://www.cloudflare.com/learning/cdn/what-is-caching/" TargetMode="External"/><Relationship Id="rId5" Type="http://schemas.openxmlformats.org/officeDocument/2006/relationships/hyperlink" Target="https://doi.org/10.1109/ACCESS.2022.3152803" TargetMode="External"/><Relationship Id="rId6" Type="http://schemas.openxmlformats.org/officeDocument/2006/relationships/hyperlink" Target="https://docs.aws.amazon.com/AmazonElastiCache/latest/dg/WhatIs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dc543835_0_2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April 9, 2026</a:t>
            </a:r>
            <a:endParaRPr/>
          </a:p>
        </p:txBody>
      </p:sp>
      <p:sp>
        <p:nvSpPr>
          <p:cNvPr id="127" name="Google Shape;127;g389dc543835_0_2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</a:pPr>
            <a:r>
              <a:rPr lang="en-US" sz="6600" dirty="0">
                <a:solidFill>
                  <a:schemeClr val="dk1"/>
                </a:solidFill>
              </a:rPr>
              <a:t>Scaling Web Applications: CDN &amp; Beyond</a:t>
            </a:r>
            <a:endParaRPr sz="6600" dirty="0">
              <a:solidFill>
                <a:schemeClr val="dk1"/>
              </a:solidFill>
            </a:endParaRPr>
          </a:p>
        </p:txBody>
      </p:sp>
      <p:pic>
        <p:nvPicPr>
          <p:cNvPr id="128" name="Google Shape;128;g389dc543835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500" y="4750649"/>
            <a:ext cx="1695875" cy="9847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8A339F-DD0C-D34F-9D50-768FA1361B40}"/>
              </a:ext>
            </a:extLst>
          </p:cNvPr>
          <p:cNvSpPr txBox="1"/>
          <p:nvPr/>
        </p:nvSpPr>
        <p:spPr>
          <a:xfrm>
            <a:off x="4898572" y="4053762"/>
            <a:ext cx="3799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Jason Kuruzovich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</a:pPr>
            <a:endParaRPr dirty="0"/>
          </a:p>
        </p:txBody>
      </p:sp>
      <p:sp>
        <p:nvSpPr>
          <p:cNvPr id="136" name="Google Shape;136;p2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75" y="1683399"/>
            <a:ext cx="2155900" cy="21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75175" y="3936425"/>
            <a:ext cx="28050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Jason Kuruzovich, PhD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Associate Professor of Business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B518E-78FD-C4FD-3BC1-6F407F47F510}"/>
              </a:ext>
            </a:extLst>
          </p:cNvPr>
          <p:cNvSpPr txBox="1"/>
          <p:nvPr/>
        </p:nvSpPr>
        <p:spPr>
          <a:xfrm>
            <a:off x="3622222" y="1905506"/>
            <a:ext cx="61341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</a:rPr>
              <a:t>Feel free to reach out for help</a:t>
            </a:r>
            <a:endParaRPr lang="en-US"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3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a meeting: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https://bit.ly/jason-rpi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Rensselaer Polytechnic Institute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kuruzj@rpi.edu</a:t>
            </a:r>
            <a:endParaRPr lang="en-US"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518-698-9910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0191-DD60-0685-3E39-FF4E674C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Web Applications: Key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6FFDC-216F-728D-0D9A-69E33D638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Scaling Topics We Will Cover</a:t>
            </a:r>
          </a:p>
          <a:p>
            <a:r>
              <a:rPr lang="en-US" b="1" dirty="0"/>
              <a:t>Scaling Dimensions</a:t>
            </a:r>
            <a:r>
              <a:rPr lang="en-US" dirty="0"/>
              <a:t>: vertical, horizontal, geographic</a:t>
            </a:r>
          </a:p>
          <a:p>
            <a:r>
              <a:rPr lang="en-US" b="1" dirty="0"/>
              <a:t>Content Delivery Networks (CDN)</a:t>
            </a:r>
            <a:r>
              <a:rPr lang="en-US" dirty="0"/>
              <a:t>: edge caching, PoPs, cache headers</a:t>
            </a:r>
          </a:p>
          <a:p>
            <a:r>
              <a:rPr lang="en-US" b="1" dirty="0"/>
              <a:t>Load Balancing</a:t>
            </a:r>
            <a:r>
              <a:rPr lang="en-US" dirty="0"/>
              <a:t>: algorithms and routing strategies</a:t>
            </a:r>
          </a:p>
          <a:p>
            <a:r>
              <a:rPr lang="en-US" b="1" dirty="0"/>
              <a:t>Database Scaling</a:t>
            </a:r>
            <a:r>
              <a:rPr lang="en-US" dirty="0"/>
              <a:t>: read replicas, sharding, partitioning</a:t>
            </a:r>
          </a:p>
          <a:p>
            <a:r>
              <a:rPr lang="en-US" b="1" dirty="0"/>
              <a:t>Application Caching, CAP Theorem, Async Queues</a:t>
            </a:r>
          </a:p>
          <a:p>
            <a:pPr marL="139700" indent="0">
              <a:buNone/>
            </a:pPr>
            <a:r>
              <a:rPr lang="en-US" b="1" dirty="0"/>
              <a:t>Theoretical Focus:</a:t>
            </a:r>
          </a:p>
          <a:p>
            <a:r>
              <a:rPr lang="en-US" dirty="0"/>
              <a:t>Why systems fail under load — and how distributed design solves it</a:t>
            </a:r>
          </a:p>
          <a:p>
            <a:r>
              <a:rPr lang="en-US" dirty="0"/>
              <a:t>Tradeoffs between consistency, availability, and performance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427F4-9F46-A8B9-5C26-7DC7587662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4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200F-D013-47ED-1A64-72178917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</a:t>
            </a:r>
            <a:r>
              <a:rPr lang="en-US" b="1" dirty="0"/>
              <a:t>Learning Objectives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B263E-B115-9330-8519-C68C097B7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  <a:p>
            <a:r>
              <a:rPr lang="en-US" dirty="0"/>
              <a:t>By the end of class, students should be able to:</a:t>
            </a:r>
          </a:p>
          <a:p>
            <a:r>
              <a:rPr lang="en-US" dirty="0"/>
              <a:t>Describe the </a:t>
            </a:r>
            <a:r>
              <a:rPr lang="en-US" b="1" dirty="0"/>
              <a:t>dimensions of scalability</a:t>
            </a:r>
            <a:r>
              <a:rPr lang="en-US" dirty="0"/>
              <a:t> (vertical, horizontal, geographic)</a:t>
            </a:r>
          </a:p>
          <a:p>
            <a:r>
              <a:rPr lang="en-US" dirty="0"/>
              <a:t>Explain how a </a:t>
            </a:r>
            <a:r>
              <a:rPr lang="en-US" b="1" dirty="0"/>
              <a:t>CDN reduces latency</a:t>
            </a:r>
            <a:r>
              <a:rPr lang="en-US" dirty="0"/>
              <a:t> through edge caching and PoPs</a:t>
            </a:r>
          </a:p>
          <a:p>
            <a:r>
              <a:rPr lang="en-US" dirty="0"/>
              <a:t>Compare </a:t>
            </a:r>
            <a:r>
              <a:rPr lang="en-US" b="1" dirty="0"/>
              <a:t>load balancing algorithms</a:t>
            </a:r>
            <a:r>
              <a:rPr lang="en-US" dirty="0"/>
              <a:t> and when to use each</a:t>
            </a:r>
          </a:p>
          <a:p>
            <a:r>
              <a:rPr lang="en-US" dirty="0"/>
              <a:t>Articulate the </a:t>
            </a:r>
            <a:r>
              <a:rPr lang="en-US" b="1" dirty="0"/>
              <a:t>CAP theorem</a:t>
            </a:r>
            <a:r>
              <a:rPr lang="en-US" dirty="0"/>
              <a:t> and the PACELC extension</a:t>
            </a:r>
          </a:p>
          <a:p>
            <a:r>
              <a:rPr lang="en-US" dirty="0"/>
              <a:t>Distinguish </a:t>
            </a:r>
            <a:r>
              <a:rPr lang="en-US" b="1" dirty="0"/>
              <a:t>caching patterns</a:t>
            </a:r>
            <a:r>
              <a:rPr lang="en-US" dirty="0"/>
              <a:t> (cache-aside, write-through, write-behind)</a:t>
            </a:r>
          </a:p>
          <a:p>
            <a:r>
              <a:rPr lang="en-US" dirty="0"/>
              <a:t>Evaluate tradeoffs in </a:t>
            </a:r>
            <a:r>
              <a:rPr lang="en-US" b="1" dirty="0"/>
              <a:t>database scaling</a:t>
            </a:r>
            <a:r>
              <a:rPr lang="en-US" dirty="0"/>
              <a:t> strategies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37A7C-DB79-A6A4-CCC2-B88A490C4A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A93C-724E-C418-6EC2-9AC74151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AC969-19BD-AAA7-8495-0F5557652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Foundational Texts &amp; Industry References</a:t>
            </a:r>
          </a:p>
          <a:p>
            <a:pPr marL="139700" indent="0">
              <a:buNone/>
            </a:pPr>
            <a:r>
              <a:rPr lang="en-US" b="1" dirty="0"/>
              <a:t>1. Cloudflare </a:t>
            </a:r>
            <a:r>
              <a:rPr lang="en-US" dirty="0"/>
              <a:t>— What is a </a:t>
            </a:r>
            <a:r>
              <a:rPr lang="en-US" dirty="0" err="1"/>
              <a:t>caching?What</a:t>
            </a:r>
            <a:r>
              <a:rPr lang="en-US" dirty="0"/>
              <a:t> is a CDN? </a:t>
            </a:r>
            <a:r>
              <a:rPr lang="en-US" sz="2000" dirty="0">
                <a:hlinkClick r:id="rId3"/>
              </a:rPr>
              <a:t>https://www.cloudflare.com/learning/cdn/what-is-a-cdn/</a:t>
            </a:r>
            <a:r>
              <a:rPr lang="en-US" sz="2000" dirty="0"/>
              <a:t> </a:t>
            </a:r>
            <a:r>
              <a:rPr lang="en-US" sz="2000" dirty="0">
                <a:hlinkClick r:id="rId4"/>
              </a:rPr>
              <a:t>https://www.cloudflare.com/learning/cdn/what-is-caching/</a:t>
            </a:r>
            <a:r>
              <a:rPr lang="en-US" sz="2000" dirty="0"/>
              <a:t> </a:t>
            </a:r>
          </a:p>
          <a:p>
            <a:pPr marL="139700" indent="0">
              <a:buNone/>
            </a:pPr>
            <a:r>
              <a:rPr lang="en-US" b="1" dirty="0"/>
              <a:t>2. Monolithic vs. Microservice Architecture: A Performance and Scalability Evaluation</a:t>
            </a:r>
          </a:p>
          <a:p>
            <a:pPr marL="139700" indent="0">
              <a:buNone/>
            </a:pPr>
            <a:r>
              <a:rPr lang="en-US" sz="2000" dirty="0">
                <a:hlinkClick r:id="rId5"/>
              </a:rPr>
              <a:t>https://doi.org/10.1109/ACCESS.2022.3152803</a:t>
            </a:r>
            <a:r>
              <a:rPr lang="en-US" sz="2000" dirty="0"/>
              <a:t> </a:t>
            </a:r>
          </a:p>
          <a:p>
            <a:pPr marL="139700" indent="0">
              <a:buNone/>
            </a:pPr>
            <a:r>
              <a:rPr lang="en-US" sz="2000" dirty="0"/>
              <a:t>3. What is Amazon </a:t>
            </a:r>
            <a:r>
              <a:rPr lang="en-US" sz="2000" dirty="0" err="1"/>
              <a:t>ElastiCache</a:t>
            </a:r>
            <a:endParaRPr lang="en-US" sz="2000" dirty="0"/>
          </a:p>
          <a:p>
            <a:pPr marL="139700" indent="0">
              <a:buNone/>
            </a:pPr>
            <a:r>
              <a:rPr lang="en-US" sz="2000" dirty="0">
                <a:hlinkClick r:id="rId6"/>
              </a:rPr>
              <a:t>https://docs.aws.amazon.com/AmazonElastiCache/latest/dg/WhatIs.html</a:t>
            </a:r>
            <a:r>
              <a:rPr lang="en-US" sz="2000" dirty="0"/>
              <a:t> </a:t>
            </a:r>
          </a:p>
          <a:p>
            <a:pPr marL="139700" indent="0">
              <a:buNone/>
            </a:pPr>
            <a:r>
              <a:rPr lang="en-US" sz="2000" b="1" dirty="0"/>
              <a:t>3. </a:t>
            </a:r>
            <a:r>
              <a:rPr lang="en-US" b="1" dirty="0"/>
              <a:t>Redis </a:t>
            </a:r>
            <a:r>
              <a:rPr lang="en-US" dirty="0"/>
              <a:t>— Caching Patterns Documentation </a:t>
            </a:r>
          </a:p>
          <a:p>
            <a:pPr marL="139700" indent="0">
              <a:buNone/>
            </a:pPr>
            <a:r>
              <a:rPr lang="en-US" b="1" dirty="0"/>
              <a:t>6. NGINX </a:t>
            </a:r>
            <a:r>
              <a:rPr lang="en-US" dirty="0"/>
              <a:t>— Load Balancing Guide (nginx.com/resources)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3B46-49FE-FF3E-22BB-886E2F5D51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8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C07850-AC86-8676-E2F2-F3100507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“scaling” mean for a web application?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9D81C-18F3-DDC0-3662-9830C10FCF1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0" y="6259513"/>
            <a:ext cx="495300" cy="271462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1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58A-E381-8E8B-9BD1-B2A3E251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Dimensions of Scalability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BF119-D4DC-DFF8-3C67-D53CEEDAA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6870"/>
            <a:ext cx="10515600" cy="4932680"/>
          </a:xfrm>
        </p:spPr>
        <p:txBody>
          <a:bodyPr/>
          <a:lstStyle/>
          <a:p>
            <a:pPr marL="139700" indent="0">
              <a:buNone/>
            </a:pPr>
            <a:r>
              <a:rPr lang="en-US" sz="2400" b="1" dirty="0"/>
              <a:t>Scaling means more than just adding servers:</a:t>
            </a:r>
          </a:p>
          <a:p>
            <a:r>
              <a:rPr lang="en-US" sz="2400" b="1" dirty="0"/>
              <a:t>Throughput</a:t>
            </a:r>
            <a:r>
              <a:rPr lang="en-US" sz="2400" dirty="0"/>
              <a:t>: requests per second the system can handle</a:t>
            </a:r>
          </a:p>
          <a:p>
            <a:r>
              <a:rPr lang="en-US" sz="2400" b="1" dirty="0"/>
              <a:t>Latency</a:t>
            </a:r>
            <a:r>
              <a:rPr lang="en-US" sz="2400" dirty="0"/>
              <a:t>: time from request to response (track p50, p95, p99)</a:t>
            </a:r>
          </a:p>
          <a:p>
            <a:r>
              <a:rPr lang="en-US" sz="2400" b="1" dirty="0"/>
              <a:t>Availability</a:t>
            </a:r>
            <a:r>
              <a:rPr lang="en-US" sz="2400" dirty="0"/>
              <a:t>: % of time the system responds correctly (e.g., 99.99%)</a:t>
            </a:r>
          </a:p>
          <a:p>
            <a:r>
              <a:rPr lang="en-US" sz="2400" b="1" dirty="0"/>
              <a:t>Geographic Scale</a:t>
            </a:r>
            <a:r>
              <a:rPr lang="en-US" sz="2400" dirty="0"/>
              <a:t>: serving users across regions with low latency</a:t>
            </a:r>
          </a:p>
          <a:p>
            <a:pPr marL="139700" indent="0">
              <a:buNone/>
            </a:pPr>
            <a:r>
              <a:rPr lang="en-US" sz="2400" b="1" dirty="0"/>
              <a:t>Two Fundamental Strategies:</a:t>
            </a:r>
          </a:p>
          <a:p>
            <a:r>
              <a:rPr lang="en-US" sz="2400" b="1" dirty="0"/>
              <a:t>Vertical Scaling (Scale Up)</a:t>
            </a:r>
            <a:r>
              <a:rPr lang="en-US" sz="2400" dirty="0"/>
              <a:t>: bigger machine, more RAM/CPU</a:t>
            </a:r>
          </a:p>
          <a:p>
            <a:r>
              <a:rPr lang="en-US" sz="2400" b="1" dirty="0"/>
              <a:t>Horizontal Scaling (Scale Out)</a:t>
            </a:r>
            <a:r>
              <a:rPr lang="en-US" sz="2400" dirty="0"/>
              <a:t>: more machines, distributed load</a:t>
            </a:r>
          </a:p>
          <a:p>
            <a:r>
              <a:rPr lang="en-US" sz="2400" dirty="0"/>
              <a:t>Vertical scaling hits hardware limits; horizontal scaling introduces distributed complexity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A3C5B-82A3-F626-21D8-40A360118F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8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1FB8-DE4D-3B58-DAB0-AC461A19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Vertical vs. Horizontal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AA2B-BCD4-3D93-B16D-5BC77275E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Vertical Scaling (Scale Up):</a:t>
            </a:r>
          </a:p>
          <a:p>
            <a:r>
              <a:rPr lang="en-US" dirty="0"/>
              <a:t>Add CPU, RAM, or faster storage to a single server</a:t>
            </a:r>
          </a:p>
          <a:p>
            <a:r>
              <a:rPr lang="en-US" dirty="0"/>
              <a:t>Pros: simple, no code changes required</a:t>
            </a:r>
          </a:p>
          <a:p>
            <a:r>
              <a:rPr lang="en-US" dirty="0"/>
              <a:t>Cons: hardware ceiling, single point of failure</a:t>
            </a:r>
          </a:p>
          <a:p>
            <a:pPr marL="139700" indent="0">
              <a:buNone/>
            </a:pPr>
            <a:r>
              <a:rPr lang="en-US" b="1" dirty="0"/>
              <a:t>Horizontal Scaling (Scale Out):</a:t>
            </a:r>
          </a:p>
          <a:p>
            <a:r>
              <a:rPr lang="en-US" dirty="0"/>
              <a:t>Add more servers; distribute load across them</a:t>
            </a:r>
          </a:p>
          <a:p>
            <a:r>
              <a:rPr lang="en-US" dirty="0"/>
              <a:t>Requires stateless application design</a:t>
            </a:r>
          </a:p>
          <a:p>
            <a:r>
              <a:rPr lang="en-US" dirty="0"/>
              <a:t>Enables near-infinite scale via cloud elasticity</a:t>
            </a:r>
          </a:p>
          <a:p>
            <a:r>
              <a:rPr lang="en-US" dirty="0"/>
              <a:t>Introduces consistency, coordination, and failure-mode complexity</a:t>
            </a:r>
          </a:p>
          <a:p>
            <a:r>
              <a:rPr lang="en-US" b="1" dirty="0"/>
              <a:t>Key insight</a:t>
            </a:r>
            <a:r>
              <a:rPr lang="en-US" dirty="0"/>
              <a:t>: modern web-scale systems use both — horizontal as primary, vertical to optimize nodes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E4259-CD89-A4DD-90BB-F8F81665F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6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0A74-C687-3CAD-E04B-E2EF4BCE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 Delivery Networks: Core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56C6-07C0-6C3E-44E5-3BCE204F9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6640"/>
            <a:ext cx="10515600" cy="4932680"/>
          </a:xfrm>
        </p:spPr>
        <p:txBody>
          <a:bodyPr/>
          <a:lstStyle/>
          <a:p>
            <a:r>
              <a:rPr lang="en-US" dirty="0"/>
              <a:t>A CDN is a geographically distributed network of servers that cache and serve content close to users</a:t>
            </a:r>
          </a:p>
          <a:p>
            <a:pPr marL="139700" indent="0">
              <a:buNone/>
            </a:pPr>
            <a:r>
              <a:rPr lang="en-US" b="1" dirty="0"/>
              <a:t>What a CDN Caches:</a:t>
            </a:r>
          </a:p>
          <a:p>
            <a:r>
              <a:rPr lang="en-US" dirty="0"/>
              <a:t>Static assets: images, JS bundles, CSS, fonts</a:t>
            </a:r>
          </a:p>
          <a:p>
            <a:r>
              <a:rPr lang="en-US" dirty="0"/>
              <a:t>Video/audio streams, software downloads</a:t>
            </a:r>
          </a:p>
          <a:p>
            <a:r>
              <a:rPr lang="en-US" dirty="0"/>
              <a:t>Increasingly: dynamic API responses (edge computing)</a:t>
            </a:r>
          </a:p>
          <a:p>
            <a:pPr marL="139700" indent="0">
              <a:buNone/>
            </a:pPr>
            <a:r>
              <a:rPr lang="en-US" b="1" dirty="0"/>
              <a:t>Core Benefits:</a:t>
            </a:r>
          </a:p>
          <a:p>
            <a:r>
              <a:rPr lang="en-US" b="1" dirty="0"/>
              <a:t>Reduced latency</a:t>
            </a:r>
            <a:r>
              <a:rPr lang="en-US" dirty="0"/>
              <a:t>: user hits a nearby edge node, not your origin server</a:t>
            </a:r>
          </a:p>
          <a:p>
            <a:r>
              <a:rPr lang="en-US" b="1" dirty="0"/>
              <a:t>Origin offload</a:t>
            </a:r>
            <a:r>
              <a:rPr lang="en-US" dirty="0"/>
              <a:t>: 60-90% of traffic never reaches your infrastructure</a:t>
            </a:r>
          </a:p>
          <a:p>
            <a:r>
              <a:rPr lang="en-US" b="1" dirty="0"/>
              <a:t>Resilience</a:t>
            </a:r>
            <a:r>
              <a:rPr lang="en-US" dirty="0"/>
              <a:t>: CDN absorbs DDoS traffic and shields the origin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E19A1-70CE-15F1-7A5F-3AEEE1D71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2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0AC8-B339-5161-CDEA-AA83A3EA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43973-3CEB-F102-8D38-DFAB3C2DD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1E929-E7E9-6EA0-B896-00C32BCC04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C0CE6-BD76-90F1-16A7-EF201103AFE6}"/>
              </a:ext>
            </a:extLst>
          </p:cNvPr>
          <p:cNvSpPr txBox="1"/>
          <p:nvPr/>
        </p:nvSpPr>
        <p:spPr>
          <a:xfrm>
            <a:off x="2993315" y="3277801"/>
            <a:ext cx="6137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CDN absorbs DDoS traffic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E85E9-B658-0CBC-EBD0-FB7B1BE5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41241"/>
            <a:ext cx="8941034" cy="434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2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2F47-38B5-AA9C-ECEB-B7C9C2CA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CDN Architecture: PoPs &amp; Edge Nodes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0DC69-919B-C182-5F23-B05A1DFDB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Point of Presence (PoP)</a:t>
            </a:r>
            <a:r>
              <a:rPr lang="en-US" dirty="0"/>
              <a:t>: a CDN data center in a geographic region</a:t>
            </a:r>
          </a:p>
          <a:p>
            <a:r>
              <a:rPr lang="en-US" dirty="0"/>
              <a:t>Each PoP contains dozens to hundreds of edge servers</a:t>
            </a:r>
          </a:p>
          <a:p>
            <a:r>
              <a:rPr lang="en-US" dirty="0"/>
              <a:t>User requests route to the nearest PoP via Anycast DNS</a:t>
            </a:r>
          </a:p>
          <a:p>
            <a:pPr marL="139700" indent="0">
              <a:buNone/>
            </a:pPr>
            <a:r>
              <a:rPr lang="en-US" b="1" dirty="0"/>
              <a:t>Cache Hierarchy:</a:t>
            </a:r>
          </a:p>
          <a:p>
            <a:r>
              <a:rPr lang="en-US" b="1" dirty="0"/>
              <a:t>L1 Edge Cache</a:t>
            </a:r>
            <a:r>
              <a:rPr lang="en-US" dirty="0"/>
              <a:t>: at the PoP closest to user (fastest, smallest)</a:t>
            </a:r>
          </a:p>
          <a:p>
            <a:r>
              <a:rPr lang="en-US" b="1" dirty="0"/>
              <a:t>L2 / Regional Cache</a:t>
            </a:r>
            <a:r>
              <a:rPr lang="en-US" dirty="0"/>
              <a:t>: larger, shared across PoPs in a region</a:t>
            </a:r>
          </a:p>
          <a:p>
            <a:r>
              <a:rPr lang="en-US" b="1" dirty="0"/>
              <a:t>Origin Server</a:t>
            </a:r>
            <a:r>
              <a:rPr lang="en-US" dirty="0"/>
              <a:t>: your infrastructure — only hit on cache miss</a:t>
            </a:r>
          </a:p>
          <a:p>
            <a:pPr marL="139700" indent="0">
              <a:buNone/>
            </a:pPr>
            <a:r>
              <a:rPr lang="en-US" b="1" dirty="0"/>
              <a:t>Cache Miss Waterfall:</a:t>
            </a:r>
          </a:p>
          <a:p>
            <a:r>
              <a:rPr lang="en-US" dirty="0"/>
              <a:t>L1 miss → check L2 → if miss, fetch from origin → populate caches on return</a:t>
            </a:r>
          </a:p>
          <a:p>
            <a:r>
              <a:rPr lang="en-US" dirty="0"/>
              <a:t>Cache hit ratio is the key CDN performance metric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5B89A-5FDD-47E5-FA11-65023F0B22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a CDN actually deliver content faster?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CDN Caching: Cache-Control &amp; TTLs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62660"/>
            <a:ext cx="10515600" cy="4932680"/>
          </a:xfrm>
        </p:spPr>
        <p:txBody>
          <a:bodyPr/>
          <a:lstStyle/>
          <a:p>
            <a:r>
              <a:rPr lang="en-US" sz="2400" dirty="0"/>
              <a:t>The Cache-Control HTTP header governs what gets cached and for how long</a:t>
            </a:r>
          </a:p>
          <a:p>
            <a:pPr marL="139700" indent="0">
              <a:buNone/>
            </a:pPr>
            <a:r>
              <a:rPr lang="en-US" sz="2400" b="1" dirty="0"/>
              <a:t>Key Directives:</a:t>
            </a:r>
          </a:p>
          <a:p>
            <a:r>
              <a:rPr lang="en-US" sz="2400" b="1" dirty="0"/>
              <a:t>max-age=N</a:t>
            </a:r>
            <a:r>
              <a:rPr lang="en-US" sz="2400" dirty="0"/>
              <a:t>: cache this response for N seconds</a:t>
            </a:r>
          </a:p>
          <a:p>
            <a:r>
              <a:rPr lang="en-US" sz="2400" b="1" dirty="0"/>
              <a:t>s-maxage=N</a:t>
            </a:r>
            <a:r>
              <a:rPr lang="en-US" sz="2400" dirty="0"/>
              <a:t>: CDN-specific TTL (overrides max-age for shared caches)</a:t>
            </a:r>
          </a:p>
          <a:p>
            <a:r>
              <a:rPr lang="en-US" sz="2400" b="1" dirty="0"/>
              <a:t>no-store</a:t>
            </a:r>
            <a:r>
              <a:rPr lang="en-US" sz="2400" dirty="0"/>
              <a:t>: never cache (for sensitive or personalized data)</a:t>
            </a:r>
          </a:p>
          <a:p>
            <a:r>
              <a:rPr lang="en-US" sz="2400" b="1" dirty="0"/>
              <a:t>stale-while-revalidate</a:t>
            </a:r>
            <a:r>
              <a:rPr lang="en-US" sz="2400" dirty="0"/>
              <a:t>: serve stale while fetching fresh in background</a:t>
            </a:r>
          </a:p>
          <a:p>
            <a:pPr marL="139700" indent="0">
              <a:buNone/>
            </a:pPr>
            <a:r>
              <a:rPr lang="en-US" sz="2400" b="1" dirty="0"/>
              <a:t>Cache Invalidation Problem:</a:t>
            </a:r>
          </a:p>
          <a:p>
            <a:r>
              <a:rPr lang="en-US" sz="2400" dirty="0"/>
              <a:t>"There are only two hard things in CS: cache invalidation and naming things"</a:t>
            </a:r>
          </a:p>
          <a:p>
            <a:r>
              <a:rPr lang="en-US" sz="2400" dirty="0"/>
              <a:t>Solution: content-hashed filenames (main.a3f2c1.js) enable aggressive caching with instant invalidation on deploy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 Balancing: Algorithms &amp; Strategies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2400" b="1" dirty="0"/>
              <a:t>Common Algorithms:</a:t>
            </a:r>
          </a:p>
          <a:p>
            <a:r>
              <a:rPr lang="en-US" sz="2000" b="1" dirty="0"/>
              <a:t>Round</a:t>
            </a:r>
            <a:r>
              <a:rPr lang="en-US" sz="2400" b="1" dirty="0"/>
              <a:t> Robin</a:t>
            </a:r>
            <a:r>
              <a:rPr lang="en-US" sz="2400" dirty="0"/>
              <a:t>: requests distributed sequentially; simple, ignores server load</a:t>
            </a:r>
          </a:p>
          <a:p>
            <a:r>
              <a:rPr lang="en-US" sz="2400" b="1" dirty="0"/>
              <a:t>Least Connections</a:t>
            </a:r>
            <a:r>
              <a:rPr lang="en-US" sz="2400" dirty="0"/>
              <a:t>: routes to the server with fewest active connections</a:t>
            </a:r>
          </a:p>
          <a:p>
            <a:r>
              <a:rPr lang="en-US" sz="2400" b="1" dirty="0"/>
              <a:t>IP Hash / Sticky Sessions</a:t>
            </a:r>
            <a:r>
              <a:rPr lang="en-US" sz="2400" dirty="0"/>
              <a:t>: same client always routes to same server</a:t>
            </a:r>
          </a:p>
          <a:p>
            <a:r>
              <a:rPr lang="en-US" sz="2400" b="1" dirty="0"/>
              <a:t>Weighted</a:t>
            </a:r>
            <a:r>
              <a:rPr lang="en-US" sz="2400" dirty="0"/>
              <a:t>: routes proportionally based on server capacity</a:t>
            </a:r>
          </a:p>
          <a:p>
            <a:r>
              <a:rPr lang="en-US" sz="2400" b="1" dirty="0"/>
              <a:t>Consistent Hashing</a:t>
            </a:r>
            <a:r>
              <a:rPr lang="en-US" sz="2400" dirty="0"/>
              <a:t>: minimizes cache disruption on node add/remove</a:t>
            </a:r>
          </a:p>
          <a:p>
            <a:pPr marL="139700" indent="0">
              <a:buNone/>
            </a:pPr>
            <a:r>
              <a:rPr lang="en-US" sz="2400" b="1" dirty="0"/>
              <a:t>Layer 4 vs. Layer 7:</a:t>
            </a:r>
          </a:p>
          <a:p>
            <a:r>
              <a:rPr lang="en-US" sz="2400" dirty="0"/>
              <a:t>L4 (TCP/UDP): fast, routes on IP/port only, no content awareness</a:t>
            </a:r>
          </a:p>
          <a:p>
            <a:r>
              <a:rPr lang="en-US" sz="2400" dirty="0"/>
              <a:t>L7 (HTTP): content-aware; can route by URL path, host header, or cookie value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2400" b="1" dirty="0"/>
              <a:t>Read Replicas:</a:t>
            </a:r>
          </a:p>
          <a:p>
            <a:r>
              <a:rPr lang="en-US" sz="2400" dirty="0"/>
              <a:t>One primary handles writes; N replicas handle reads</a:t>
            </a:r>
          </a:p>
          <a:p>
            <a:r>
              <a:rPr lang="en-US" sz="2400" dirty="0"/>
              <a:t>Replication lag: replicas may be milliseconds behind primary</a:t>
            </a:r>
          </a:p>
          <a:p>
            <a:r>
              <a:rPr lang="en-US" sz="2400" dirty="0"/>
              <a:t>Effective when read:write ratio is high (typical for most web apps)</a:t>
            </a:r>
          </a:p>
          <a:p>
            <a:pPr marL="139700" indent="0">
              <a:buNone/>
            </a:pPr>
            <a:r>
              <a:rPr lang="en-US" sz="2400" b="1" dirty="0"/>
              <a:t>Sharding (Horizontal Partitioning):</a:t>
            </a:r>
          </a:p>
          <a:p>
            <a:r>
              <a:rPr lang="en-US" sz="2400" dirty="0"/>
              <a:t>Split data across multiple database nodes by a shard key</a:t>
            </a:r>
          </a:p>
          <a:p>
            <a:r>
              <a:rPr lang="en-US" sz="2400" b="1" dirty="0"/>
              <a:t>Range sharding</a:t>
            </a:r>
            <a:r>
              <a:rPr lang="en-US" sz="2400" dirty="0"/>
              <a:t>: partition by value range (e.g., user IDs 1-1M on shard 1)</a:t>
            </a:r>
          </a:p>
          <a:p>
            <a:r>
              <a:rPr lang="en-US" sz="2400" b="1" dirty="0"/>
              <a:t>Hash sharding</a:t>
            </a:r>
            <a:r>
              <a:rPr lang="en-US" sz="2400" dirty="0"/>
              <a:t>: distribute by hash of key; avoids hotspots</a:t>
            </a:r>
          </a:p>
          <a:p>
            <a:pPr marL="139700" indent="0">
              <a:buNone/>
            </a:pPr>
            <a:r>
              <a:rPr lang="en-US" sz="2400" b="1" dirty="0"/>
              <a:t>Tradeoffs:</a:t>
            </a:r>
          </a:p>
          <a:p>
            <a:r>
              <a:rPr lang="en-US" sz="2400" dirty="0"/>
              <a:t>Sharding complicates cross-shard queries and distributed transactions</a:t>
            </a:r>
          </a:p>
          <a:p>
            <a:r>
              <a:rPr lang="en-US" sz="2400" dirty="0"/>
              <a:t>Schema changes must be coordinated across all shards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your database becomes the bottleneck?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Application-Level Caching with Redis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62660"/>
            <a:ext cx="10515600" cy="4932680"/>
          </a:xfrm>
        </p:spPr>
        <p:txBody>
          <a:bodyPr/>
          <a:lstStyle/>
          <a:p>
            <a:r>
              <a:rPr lang="en-US" sz="2400" dirty="0"/>
              <a:t>Redis: in-memory key-value store used as a caching layer in front of the database</a:t>
            </a:r>
          </a:p>
          <a:p>
            <a:pPr marL="139700" indent="0">
              <a:buNone/>
            </a:pPr>
            <a:r>
              <a:rPr lang="en-US" sz="2400" b="1" dirty="0"/>
              <a:t>Caching Patterns:</a:t>
            </a:r>
          </a:p>
          <a:p>
            <a:r>
              <a:rPr lang="en-US" sz="2400" b="1" dirty="0"/>
              <a:t>Cache-Aside (Lazy Loading)</a:t>
            </a:r>
            <a:r>
              <a:rPr lang="en-US" sz="2400" dirty="0"/>
              <a:t>: app checks cache first; on miss, loads DB and writes to cache</a:t>
            </a:r>
          </a:p>
          <a:p>
            <a:r>
              <a:rPr lang="en-US" sz="2400" b="1" dirty="0"/>
              <a:t>Read-Through</a:t>
            </a:r>
            <a:r>
              <a:rPr lang="en-US" sz="2400" dirty="0"/>
              <a:t>: cache sits in front of DB; fetches automatically on miss</a:t>
            </a:r>
          </a:p>
          <a:p>
            <a:r>
              <a:rPr lang="en-US" sz="2400" b="1" dirty="0"/>
              <a:t>Write-Through</a:t>
            </a:r>
            <a:r>
              <a:rPr lang="en-US" sz="2400" dirty="0"/>
              <a:t>: write to cache and DB synchronously; strong consistency</a:t>
            </a:r>
          </a:p>
          <a:p>
            <a:r>
              <a:rPr lang="en-US" sz="2400" b="1" dirty="0"/>
              <a:t>Write-Behind (Write-Back)</a:t>
            </a:r>
            <a:r>
              <a:rPr lang="en-US" sz="2400" dirty="0"/>
              <a:t>: write to cache immediately; async flush to DB later</a:t>
            </a:r>
          </a:p>
          <a:p>
            <a:pPr marL="139700" indent="0">
              <a:buNone/>
            </a:pPr>
            <a:r>
              <a:rPr lang="en-US" sz="2400" b="1" dirty="0"/>
              <a:t>Key Design Decisions:</a:t>
            </a:r>
          </a:p>
          <a:p>
            <a:r>
              <a:rPr lang="en-US" sz="2400" dirty="0"/>
              <a:t>TTL selection: too short = high miss rate; too long = stale data</a:t>
            </a:r>
          </a:p>
          <a:p>
            <a:r>
              <a:rPr lang="en-US" sz="2400" dirty="0"/>
              <a:t>Cache stampede: concurrent misses overwhelm origin — solved with mutex locks or probabilistic early expiration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CAP Theorem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56640"/>
            <a:ext cx="10515600" cy="4932680"/>
          </a:xfrm>
        </p:spPr>
        <p:txBody>
          <a:bodyPr/>
          <a:lstStyle/>
          <a:p>
            <a:r>
              <a:rPr lang="en-US" sz="2000" dirty="0"/>
              <a:t>Brewer (2000): a distributed system can guarantee at most 2 of 3 properties simultaneously</a:t>
            </a:r>
          </a:p>
          <a:p>
            <a:r>
              <a:rPr lang="en-US" sz="2000" b="1" dirty="0"/>
              <a:t>Consistency (C)</a:t>
            </a:r>
            <a:r>
              <a:rPr lang="en-US" sz="2000" dirty="0"/>
              <a:t>: every read returns the most recent write or an error</a:t>
            </a:r>
          </a:p>
          <a:p>
            <a:r>
              <a:rPr lang="en-US" sz="2000" b="1" dirty="0"/>
              <a:t>Availability (A)</a:t>
            </a:r>
            <a:r>
              <a:rPr lang="en-US" sz="2000" dirty="0"/>
              <a:t>: every request receives a response (may not be the latest data)</a:t>
            </a:r>
          </a:p>
          <a:p>
            <a:r>
              <a:rPr lang="en-US" sz="2000" b="1" dirty="0"/>
              <a:t>Partition Tolerance (P)</a:t>
            </a:r>
            <a:r>
              <a:rPr lang="en-US" sz="2000" dirty="0"/>
              <a:t>: system operates despite network partitions</a:t>
            </a:r>
          </a:p>
          <a:p>
            <a:pPr marL="139700" indent="0">
              <a:buNone/>
            </a:pPr>
            <a:r>
              <a:rPr lang="en-US" sz="2000" b="1" dirty="0"/>
              <a:t>In Practice:</a:t>
            </a:r>
          </a:p>
          <a:p>
            <a:r>
              <a:rPr lang="en-US" sz="2000" dirty="0"/>
              <a:t>Network partitions are unavoidable in distributed systems — P must always be tolerated</a:t>
            </a:r>
          </a:p>
          <a:p>
            <a:r>
              <a:rPr lang="en-US" sz="2000" dirty="0"/>
              <a:t>Real choice is CP (consistent, may be unavailable) vs AP (available, may return stale data)</a:t>
            </a:r>
          </a:p>
          <a:p>
            <a:pPr marL="139700" indent="0">
              <a:buNone/>
            </a:pPr>
            <a:r>
              <a:rPr lang="en-US" sz="2000" b="1" dirty="0"/>
              <a:t>PACELC Extension (Abadi, 2012):</a:t>
            </a:r>
          </a:p>
          <a:p>
            <a:r>
              <a:rPr lang="en-US" sz="2000" dirty="0"/>
              <a:t>Even without partitions there is a latency vs consistency tradeoff</a:t>
            </a:r>
          </a:p>
          <a:p>
            <a:r>
              <a:rPr lang="en-US" sz="2000" dirty="0"/>
              <a:t>Full spectrum: "If Partition, then Consistency or Availability; Else, Latency or Consistency"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 Processing &amp; Message Queues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Not</a:t>
            </a:r>
            <a:r>
              <a:rPr lang="en-US" sz="2000" dirty="0"/>
              <a:t> all work should happen synchronously in the request/response cycle</a:t>
            </a:r>
          </a:p>
          <a:p>
            <a:pPr marL="139700" indent="0">
              <a:buNone/>
            </a:pPr>
            <a:r>
              <a:rPr lang="en-US" sz="2000" b="1" dirty="0"/>
              <a:t>Why Async?</a:t>
            </a:r>
          </a:p>
          <a:p>
            <a:r>
              <a:rPr lang="en-US" sz="2000" dirty="0"/>
              <a:t>Decouples producers from consumers; absorbs traffic spikes</a:t>
            </a:r>
          </a:p>
          <a:p>
            <a:r>
              <a:rPr lang="en-US" sz="2000" dirty="0"/>
              <a:t>Long tasks (email, video processing, ML inference) should not block HTTP responses</a:t>
            </a:r>
          </a:p>
          <a:p>
            <a:pPr marL="139700" indent="0">
              <a:buNone/>
            </a:pPr>
            <a:r>
              <a:rPr lang="en-US" sz="2000" b="1" dirty="0"/>
              <a:t>Core Concepts:</a:t>
            </a:r>
          </a:p>
          <a:p>
            <a:r>
              <a:rPr lang="en-US" sz="2000" b="1" dirty="0"/>
              <a:t>Queue</a:t>
            </a:r>
            <a:r>
              <a:rPr lang="en-US" sz="2000" dirty="0"/>
              <a:t>: ordered list of messages; consumers pull and acknowledge processing</a:t>
            </a:r>
          </a:p>
          <a:p>
            <a:r>
              <a:rPr lang="en-US" sz="2000" b="1" dirty="0"/>
              <a:t>Pub/Sub</a:t>
            </a:r>
            <a:r>
              <a:rPr lang="en-US" sz="2000" dirty="0"/>
              <a:t>: one producer, many independent consumers (fan-out pattern)</a:t>
            </a:r>
          </a:p>
          <a:p>
            <a:r>
              <a:rPr lang="en-US" sz="2000" b="1" dirty="0"/>
              <a:t>Dead Letter Queue (DLQ)</a:t>
            </a:r>
            <a:r>
              <a:rPr lang="en-US" sz="2000" dirty="0"/>
              <a:t>: captures messages that fail repeated processing attempts</a:t>
            </a:r>
          </a:p>
          <a:p>
            <a:pPr marL="139700" indent="0">
              <a:buNone/>
            </a:pPr>
            <a:r>
              <a:rPr lang="en-US" sz="2000" b="1" dirty="0"/>
              <a:t>Common Systems:</a:t>
            </a:r>
          </a:p>
          <a:p>
            <a:r>
              <a:rPr lang="en-US" sz="2000" dirty="0"/>
              <a:t>Redis (BullMQ), RabbitMQ, AWS SQS/SNS — transient message delivery</a:t>
            </a:r>
          </a:p>
          <a:p>
            <a:r>
              <a:rPr lang="en-US" sz="2000" dirty="0"/>
              <a:t>Apache Kafka — durable log; consumers can replay from any offset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Autoscaling &amp; Observability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2000" b="1" dirty="0"/>
              <a:t>Autoscaling:</a:t>
            </a:r>
          </a:p>
          <a:p>
            <a:r>
              <a:rPr lang="en-US" sz="2000" dirty="0"/>
              <a:t>Automatically add/remove compute instances based on load metrics</a:t>
            </a:r>
          </a:p>
          <a:p>
            <a:r>
              <a:rPr lang="en-US" sz="2000" b="1" dirty="0"/>
              <a:t>Horizontal Pod Autoscaler (Kubernetes)</a:t>
            </a:r>
            <a:r>
              <a:rPr lang="en-US" sz="2000" dirty="0"/>
              <a:t>: scales pods on CPU, memory, or custom metrics</a:t>
            </a:r>
          </a:p>
          <a:p>
            <a:r>
              <a:rPr lang="en-US" sz="2000" b="1" dirty="0"/>
              <a:t>AWS Auto Scaling Groups</a:t>
            </a:r>
            <a:r>
              <a:rPr lang="en-US" sz="2000" dirty="0"/>
              <a:t>: scales EC2 instances; combined with Application Load Balancer</a:t>
            </a:r>
          </a:p>
          <a:p>
            <a:r>
              <a:rPr lang="en-US" sz="2000" dirty="0"/>
              <a:t>Scaling has lag — pre-warming and predictive scaling reduce cold-start penalty</a:t>
            </a:r>
          </a:p>
          <a:p>
            <a:pPr marL="139700" indent="0">
              <a:buNone/>
            </a:pPr>
            <a:r>
              <a:rPr lang="en-US" sz="2000" b="1" dirty="0"/>
              <a:t>Observability (the 3 Pillars):</a:t>
            </a:r>
          </a:p>
          <a:p>
            <a:r>
              <a:rPr lang="en-US" sz="2000" b="1" dirty="0"/>
              <a:t>Metrics</a:t>
            </a:r>
            <a:r>
              <a:rPr lang="en-US" sz="2000" dirty="0"/>
              <a:t>: quantitative signals — RPS, p99 latency, error rate, CPU%</a:t>
            </a:r>
          </a:p>
          <a:p>
            <a:r>
              <a:rPr lang="en-US" sz="2000" b="1" dirty="0"/>
              <a:t>Logs</a:t>
            </a:r>
            <a:r>
              <a:rPr lang="en-US" sz="2000" dirty="0"/>
              <a:t>: structured event records; useful for debugging specific incidents</a:t>
            </a:r>
          </a:p>
          <a:p>
            <a:r>
              <a:rPr lang="en-US" sz="2000" b="1" dirty="0"/>
              <a:t>Traces</a:t>
            </a:r>
            <a:r>
              <a:rPr lang="en-US" sz="2000" dirty="0"/>
              <a:t>: end-to-end request paths across distributed services</a:t>
            </a:r>
          </a:p>
          <a:p>
            <a:pPr marL="139700" indent="0">
              <a:buNone/>
            </a:pPr>
            <a:r>
              <a:rPr lang="en-US" sz="2000" b="1" dirty="0"/>
              <a:t>Key Principle:</a:t>
            </a:r>
          </a:p>
          <a:p>
            <a:r>
              <a:rPr lang="en-US" sz="2000" dirty="0"/>
              <a:t>You cannot scale what you cannot measure — observability is a prerequisite for effective autoscaling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In-Memory vs. Redis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Setup: Two Identical Servers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Same API, different backends — run both and compare:</a:t>
            </a:r>
          </a:p>
          <a:p>
            <a:pPr/>
            <a:r>
              <a:t>server-memory.js (port 3000)</a:t>
            </a:r>
          </a:p>
          <a:p>
            <a:pPr lvl="1"/>
            <a:r>
              <a:t>Users stored in a JavaScript array: const users = []</a:t>
            </a:r>
          </a:p>
          <a:p>
            <a:pPr lvl="1"/>
            <a:r>
              <a:t>Refresh tokens in an array: const refreshTokens = []</a:t>
            </a:r>
          </a:p>
          <a:p>
            <a:pPr lvl="1"/>
            <a:r>
              <a:t>No caching — every data request takes ~2 seconds</a:t>
            </a:r>
          </a:p>
          <a:p>
            <a:pPr/>
            <a:r>
              <a:t>server-redis.js (port 3001)</a:t>
            </a:r>
          </a:p>
          <a:p>
            <a:pPr lvl="1"/>
            <a:r>
              <a:t>Users stored as Redis Hashes: user:{username}</a:t>
            </a:r>
          </a:p>
          <a:p>
            <a:pPr lvl="1"/>
            <a:r>
              <a:t>Refresh tokens in a Redis Set: refresh_tokens</a:t>
            </a:r>
          </a:p>
          <a:p>
            <a:pPr lvl="1"/>
            <a:r>
              <a:t>Cache-aside pattern with 30-second TTL</a:t>
            </a:r>
          </a:p>
          <a:p>
            <a:pPr/>
            <a:r>
              <a:t>npm run compare  — launches both simultaneously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What Happens on Restart?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Register a user on both servers, then restart both</a:t>
            </a:r>
          </a:p>
          <a:p>
            <a:pPr/>
            <a:r>
              <a:t>In-memory server:</a:t>
            </a:r>
          </a:p>
          <a:p>
            <a:pPr lvl="1"/>
            <a:r>
              <a:t>Login fails — user data gone</a:t>
            </a:r>
          </a:p>
          <a:p>
            <a:pPr lvl="1"/>
            <a:r>
              <a:t>Every code change in --watch mode triggers a restart</a:t>
            </a:r>
          </a:p>
          <a:p>
            <a:pPr lvl="1"/>
            <a:r>
              <a:t>Imagine deploying a fix at 2 AM and logging out all users</a:t>
            </a:r>
          </a:p>
          <a:p>
            <a:pPr/>
            <a:r>
              <a:t>Redis server:</a:t>
            </a:r>
          </a:p>
          <a:p>
            <a:pPr lvl="1"/>
            <a:r>
              <a:t>Login succeeds — data persists in Redis independently</a:t>
            </a:r>
          </a:p>
          <a:p>
            <a:pPr lvl="1"/>
            <a:r>
              <a:t>Server process is stateless; Redis holds the state</a:t>
            </a:r>
          </a:p>
          <a:p>
            <a:pPr lvl="1"/>
            <a:r>
              <a:t>Deploy, scale, crash, restart — no data loss</a:t>
            </a:r>
          </a:p>
          <a:p>
            <a:pPr/>
            <a:r>
              <a:t>This is why production systems externalize state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Caching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Both servers have a /api/data/cached endpoint with a simulated 2-second query</a:t>
            </a:r>
          </a:p>
          <a:p>
            <a:pPr/>
            <a:r>
              <a:t>In-memory server — no cache available:</a:t>
            </a:r>
          </a:p>
          <a:p>
            <a:pPr lvl="1"/>
            <a:r>
              <a:t>Request 1: ~2000ms</a:t>
            </a:r>
          </a:p>
          <a:p>
            <a:pPr lvl="1"/>
            <a:r>
              <a:t>Request 2: ~2000ms</a:t>
            </a:r>
          </a:p>
          <a:p>
            <a:pPr lvl="1"/>
            <a:r>
              <a:t>Request 100: ~2000ms</a:t>
            </a:r>
          </a:p>
          <a:p>
            <a:pPr/>
            <a:r>
              <a:t>Redis server — cache-aside pattern:</a:t>
            </a:r>
          </a:p>
          <a:p>
            <a:pPr lvl="1"/>
            <a:r>
              <a:t>Request 1: ~2000ms (cache MISS — stores result with 30s TTL)</a:t>
            </a:r>
          </a:p>
          <a:p>
            <a:pPr lvl="1"/>
            <a:r>
              <a:t>Request 2: ~2ms (cache HIT — served from Redis)</a:t>
            </a:r>
          </a:p>
          <a:p>
            <a:pPr lvl="1"/>
            <a:r>
              <a:t>After 30s: ~2000ms again (TTL expired, fresh fetch)</a:t>
            </a:r>
          </a:p>
          <a:p>
            <a:pPr/>
            <a:r>
              <a:t>400x speedup on cache hits — same data, dramatically less load on origin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Matters: Horizontal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In-memory storage breaks with multiple server instances</a:t>
            </a:r>
          </a:p>
          <a:p>
            <a:pPr lvl="1"/>
            <a:r>
              <a:t>User registers on Server A, load balancer sends next request to Server B</a:t>
            </a:r>
          </a:p>
          <a:p>
            <a:pPr lvl="1"/>
            <a:r>
              <a:t>Server B has no idea who this user is — login fails</a:t>
            </a:r>
          </a:p>
          <a:p>
            <a:pPr lvl="1"/>
            <a:r>
              <a:t>Sticky sessions are a band-aid (breaks on failover)</a:t>
            </a:r>
          </a:p>
          <a:p>
            <a:pPr/>
            <a:r>
              <a:t>Redis as shared external state:</a:t>
            </a:r>
          </a:p>
          <a:p>
            <a:pPr lvl="1"/>
            <a:r>
              <a:t>All server instances read/write to the same Redis</a:t>
            </a:r>
          </a:p>
          <a:p>
            <a:pPr lvl="1"/>
            <a:r>
              <a:t>Any instance can handle any request — true statelessness</a:t>
            </a:r>
          </a:p>
          <a:p>
            <a:pPr lvl="1"/>
            <a:r>
              <a:t>Add or remove instances without data loss</a:t>
            </a:r>
          </a:p>
          <a:p>
            <a:pPr/>
            <a:r>
              <a:t>This is the architectural shift that enables:</a:t>
            </a:r>
          </a:p>
          <a:p>
            <a:pPr lvl="1"/>
            <a:r>
              <a:t>Autoscaling, blue-green deployments, container orchestration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 Data Types: Choosing the Right Tool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Hash (user storage)</a:t>
            </a:r>
          </a:p>
          <a:p>
            <a:pPr lvl="1"/>
            <a:r>
              <a:t>Like a JS object — field/value pairs under one key</a:t>
            </a:r>
          </a:p>
          <a:p>
            <a:pPr lvl="1"/>
            <a:r>
              <a:t>redis.hSet('user:alice', { username, password })</a:t>
            </a:r>
          </a:p>
          <a:p>
            <a:pPr lvl="1"/>
            <a:r>
              <a:t>O(1) field access — no scanning an array</a:t>
            </a:r>
          </a:p>
          <a:p>
            <a:pPr/>
            <a:r>
              <a:t>Set (refresh token store)</a:t>
            </a:r>
          </a:p>
          <a:p>
            <a:pPr lvl="1"/>
            <a:r>
              <a:t>Unordered collection of unique strings</a:t>
            </a:r>
          </a:p>
          <a:p>
            <a:pPr lvl="1"/>
            <a:r>
              <a:t>redis.sIsMember('refresh_tokens', token) — O(1) lookup</a:t>
            </a:r>
          </a:p>
          <a:p>
            <a:pPr lvl="1"/>
            <a:r>
              <a:t>Compare: Array.includes() is O(n) — gets slower with more tokens</a:t>
            </a:r>
          </a:p>
          <a:p>
            <a:pPr/>
            <a:r>
              <a:t>String with TTL (cache)</a:t>
            </a:r>
          </a:p>
          <a:p>
            <a:pPr lvl="1"/>
            <a:r>
              <a:t>redis.set(key, data, { EX: 30 }) — auto-deletes after 30s</a:t>
            </a:r>
          </a:p>
          <a:p>
            <a:pPr lvl="1"/>
            <a:r>
              <a:t>No cleanup code needed — Redis handles expiration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Lecture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Cache-Aside Pattern (slide 17)</a:t>
            </a:r>
          </a:p>
          <a:p>
            <a:pPr lvl="1"/>
            <a:r>
              <a:t>Implemented in /api/data/cached — check cache, fetch on miss, store with TTL</a:t>
            </a:r>
          </a:p>
          <a:p>
            <a:pPr lvl="1"/>
            <a:r>
              <a:t>Students see MISS vs HIT in real-time response data</a:t>
            </a:r>
          </a:p>
          <a:p>
            <a:pPr/>
            <a:r>
              <a:t>CAP Theorem (slide 18)</a:t>
            </a:r>
          </a:p>
          <a:p>
            <a:pPr lvl="1"/>
            <a:r>
              <a:t>Cache serves stale data during TTL window — trading consistency for speed</a:t>
            </a:r>
          </a:p>
          <a:p>
            <a:pPr lvl="1"/>
            <a:r>
              <a:t>What if the underlying data changes before the cache expires?</a:t>
            </a:r>
          </a:p>
          <a:p>
            <a:pPr/>
            <a:r>
              <a:t>Database Scaling (slide 15)</a:t>
            </a:r>
          </a:p>
          <a:p>
            <a:pPr lvl="1"/>
            <a:r>
              <a:t>Caching reduces reads hitting the database — similar benefit to read replicas</a:t>
            </a:r>
          </a:p>
          <a:p>
            <a:pPr lvl="1"/>
            <a:r>
              <a:t>Often the first scaling step before adding infrastructure</a:t>
            </a:r>
          </a:p>
          <a:p>
            <a:pPr/>
            <a:r>
              <a:t>Async/Queues (slide 19)</a:t>
            </a:r>
          </a:p>
          <a:p>
            <a:pPr lvl="1"/>
            <a:r>
              <a:t>Redis also powers BullMQ, Pub/Sub — same tool, different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1D3982"/>
      </a:accent1>
      <a:accent2>
        <a:srgbClr val="FD719F"/>
      </a:accent2>
      <a:accent3>
        <a:srgbClr val="EAB036"/>
      </a:accent3>
      <a:accent4>
        <a:srgbClr val="35045D"/>
      </a:accent4>
      <a:accent5>
        <a:srgbClr val="7573D1"/>
      </a:accent5>
      <a:accent6>
        <a:srgbClr val="E6AD34"/>
      </a:accent6>
      <a:hlink>
        <a:srgbClr val="5CC6DC"/>
      </a:hlink>
      <a:folHlink>
        <a:srgbClr val="266F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6191</TotalTime>
  <Words>1594</Words>
  <Application>Microsoft Macintosh PowerPoint</Application>
  <PresentationFormat>Widescreen</PresentationFormat>
  <Paragraphs>182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Raleway ExtraBold</vt:lpstr>
      <vt:lpstr>Raleway SemiBold</vt:lpstr>
      <vt:lpstr>Geist</vt:lpstr>
      <vt:lpstr>Raleway</vt:lpstr>
      <vt:lpstr>1_Office Theme</vt:lpstr>
      <vt:lpstr>Scaling Web Applications: CDN &amp; Beyond</vt:lpstr>
      <vt:lpstr>PowerPoint Presentation</vt:lpstr>
      <vt:lpstr>Scaling Web Applications: Key Topics</vt:lpstr>
      <vt:lpstr>Scaling Learning Objectives</vt:lpstr>
      <vt:lpstr>Readings</vt:lpstr>
      <vt:lpstr>What does “scaling” mean for a web application?</vt:lpstr>
      <vt:lpstr>Dimensions of Scalability</vt:lpstr>
      <vt:lpstr>Vertical vs. Horizontal Scaling</vt:lpstr>
      <vt:lpstr>Content Delivery Networks: Core Concepts</vt:lpstr>
      <vt:lpstr>PowerPoint Presentation</vt:lpstr>
      <vt:lpstr>CDN Architecture: PoPs &amp; Edge Nodes</vt:lpstr>
      <vt:lpstr>How does a CDN actually deliver content faster?</vt:lpstr>
      <vt:lpstr>CDN Caching: Cache-Control &amp; TTLs</vt:lpstr>
      <vt:lpstr>Load Balancing: Algorithms &amp; Strategies</vt:lpstr>
      <vt:lpstr>Database Scaling</vt:lpstr>
      <vt:lpstr>What happens when your database becomes the bottleneck?</vt:lpstr>
      <vt:lpstr>Application-Level Caching with Redis</vt:lpstr>
      <vt:lpstr>The CAP Theorem</vt:lpstr>
      <vt:lpstr>Async Processing &amp; Message Queues</vt:lpstr>
      <vt:lpstr>Autoscaling &amp; Observability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 Byrd</dc:creator>
  <cp:lastModifiedBy>Kuruzovich, Jason Nicholas</cp:lastModifiedBy>
  <cp:revision>6</cp:revision>
  <dcterms:created xsi:type="dcterms:W3CDTF">2024-03-21T15:18:40Z</dcterms:created>
  <dcterms:modified xsi:type="dcterms:W3CDTF">2026-04-10T13:51:22Z</dcterms:modified>
</cp:coreProperties>
</file>