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Raleway" pitchFamily="2" charset="77"/>
      <p:regular r:id="rId29"/>
      <p:bold r:id="rId30"/>
      <p:italic r:id="rId31"/>
      <p:boldItalic r:id="rId32"/>
    </p:embeddedFont>
    <p:embeddedFont>
      <p:font typeface="Raleway ExtraBold" pitchFamily="2" charset="77"/>
      <p:bold r:id="rId33"/>
      <p:italic r:id="rId34"/>
      <p:boldItalic r:id="rId35"/>
    </p:embeddedFont>
    <p:embeddedFont>
      <p:font typeface="Raleway SemiBold" pitchFamily="2" charset="77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gJIPsVM9PdwC/BelE/w58o2aAl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12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1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sheetseries.owasp.org/cheatsheets/Authorization_Cheat_Sheet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dc543835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89dc54383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>
                <a:hlinkClick r:id="rId3"/>
              </a:rPr>
              <a:t>OWASP Authorization Cheat Sheet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cheatsheetseries.owasp.org</a:t>
            </a:r>
            <a:r>
              <a:rPr lang="en-US" dirty="0"/>
              <a:t>/</a:t>
            </a:r>
            <a:r>
              <a:rPr lang="en-US" dirty="0" err="1"/>
              <a:t>cheatsheets</a:t>
            </a:r>
            <a:r>
              <a:rPr lang="en-US" dirty="0"/>
              <a:t>/</a:t>
            </a:r>
            <a:r>
              <a:rPr lang="en-US" dirty="0" err="1"/>
              <a:t>Authorization_Cheat_Sheet.html?utm_source</a:t>
            </a:r>
            <a:r>
              <a:rPr lang="en-US" dirty="0"/>
              <a:t>=</a:t>
            </a:r>
            <a:r>
              <a:rPr lang="en-US" dirty="0" err="1"/>
              <a:t>chatgpt.com</a:t>
            </a:r>
            <a:endParaRPr lang="en-US" dirty="0"/>
          </a:p>
          <a:p>
            <a:endParaRPr 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dirty="0" err="1"/>
              <a:t>WorkOS</a:t>
            </a:r>
            <a:r>
              <a:rPr lang="en-US" b="1" dirty="0"/>
              <a:t> — OAuth and JWT Best Practices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workos.com</a:t>
            </a:r>
            <a:r>
              <a:rPr lang="en-US" dirty="0"/>
              <a:t>/blog/</a:t>
            </a:r>
            <a:r>
              <a:rPr lang="en-US" dirty="0" err="1"/>
              <a:t>oauth-and-jwt-how-to-use-and-best-practices?utm_source</a:t>
            </a:r>
            <a:r>
              <a:rPr lang="en-US" dirty="0"/>
              <a:t>=</a:t>
            </a:r>
            <a:r>
              <a:rPr lang="en-US" dirty="0" err="1"/>
              <a:t>chatgpt.com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4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264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Title Slide">
  <p:cSld name="White 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9dc543835_0_273"/>
          <p:cNvSpPr/>
          <p:nvPr/>
        </p:nvSpPr>
        <p:spPr>
          <a:xfrm>
            <a:off x="0" y="6540075"/>
            <a:ext cx="453300" cy="3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89dc543835_0_273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89dc543835_0_273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g389dc543835_0_2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47526" y="0"/>
            <a:ext cx="2730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g389dc543835_0_2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27" y="6575025"/>
            <a:ext cx="274320" cy="163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 Layout 4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32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1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127"/>
          <p:cNvSpPr txBox="1">
            <a:spLocks noGrp="1"/>
          </p:cNvSpPr>
          <p:nvPr>
            <p:ph type="body" idx="1"/>
          </p:nvPr>
        </p:nvSpPr>
        <p:spPr>
          <a:xfrm>
            <a:off x="838200" y="1239520"/>
            <a:ext cx="10515600" cy="493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◉"/>
              <a:defRPr sz="2800"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◉"/>
              <a:defRPr sz="2200"/>
            </a:lvl2pPr>
            <a:lvl3pPr marL="1371600" lvl="2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◉"/>
              <a:defRPr sz="1800"/>
            </a:lvl3pPr>
            <a:lvl4pPr marL="1828800" lvl="3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4pPr>
            <a:lvl5pPr marL="2286000" lvl="4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12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lide">
  <p:cSld name="Title_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6" descr="A logo with yellow and purple line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0505966" y="5457001"/>
            <a:ext cx="1267549" cy="13215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6"/>
          <p:cNvSpPr/>
          <p:nvPr/>
        </p:nvSpPr>
        <p:spPr>
          <a:xfrm>
            <a:off x="0" y="0"/>
            <a:ext cx="12192000" cy="5339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470F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26"/>
          <p:cNvSpPr txBox="1">
            <a:spLocks noGrp="1"/>
          </p:cNvSpPr>
          <p:nvPr>
            <p:ph type="title"/>
          </p:nvPr>
        </p:nvSpPr>
        <p:spPr>
          <a:xfrm>
            <a:off x="845457" y="2712199"/>
            <a:ext cx="10515600" cy="64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6"/>
          <p:cNvSpPr txBox="1">
            <a:spLocks noGrp="1"/>
          </p:cNvSpPr>
          <p:nvPr>
            <p:ph type="body" idx="1"/>
          </p:nvPr>
        </p:nvSpPr>
        <p:spPr>
          <a:xfrm>
            <a:off x="845457" y="3359850"/>
            <a:ext cx="10515600" cy="91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6"/>
          <p:cNvSpPr txBox="1">
            <a:spLocks noGrp="1"/>
          </p:cNvSpPr>
          <p:nvPr>
            <p:ph type="body" idx="2"/>
          </p:nvPr>
        </p:nvSpPr>
        <p:spPr>
          <a:xfrm>
            <a:off x="2244044" y="4639940"/>
            <a:ext cx="9117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26"/>
          <p:cNvSpPr/>
          <p:nvPr/>
        </p:nvSpPr>
        <p:spPr>
          <a:xfrm>
            <a:off x="3812207" y="5405040"/>
            <a:ext cx="1440204" cy="14239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6"/>
          <p:cNvSpPr/>
          <p:nvPr/>
        </p:nvSpPr>
        <p:spPr>
          <a:xfrm>
            <a:off x="468429" y="5457001"/>
            <a:ext cx="1822317" cy="13215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26" descr="A yellow and black rectangle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3016" y="5594997"/>
            <a:ext cx="2812345" cy="104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_Slide">
  <p:cSld name="Contact_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7"/>
          <p:cNvSpPr/>
          <p:nvPr/>
        </p:nvSpPr>
        <p:spPr>
          <a:xfrm>
            <a:off x="0" y="1"/>
            <a:ext cx="12192000" cy="4297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37"/>
          <p:cNvSpPr/>
          <p:nvPr/>
        </p:nvSpPr>
        <p:spPr>
          <a:xfrm>
            <a:off x="0" y="4289047"/>
            <a:ext cx="12192000" cy="2942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37"/>
          <p:cNvSpPr txBox="1">
            <a:spLocks noGrp="1"/>
          </p:cNvSpPr>
          <p:nvPr>
            <p:ph type="body" idx="1"/>
          </p:nvPr>
        </p:nvSpPr>
        <p:spPr>
          <a:xfrm>
            <a:off x="418551" y="6232244"/>
            <a:ext cx="2744617" cy="20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 b="0">
                <a:solidFill>
                  <a:srgbClr val="262626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7"/>
          <p:cNvSpPr txBox="1">
            <a:spLocks noGrp="1"/>
          </p:cNvSpPr>
          <p:nvPr>
            <p:ph type="body" idx="2"/>
          </p:nvPr>
        </p:nvSpPr>
        <p:spPr>
          <a:xfrm>
            <a:off x="418551" y="6383668"/>
            <a:ext cx="2744617" cy="18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9698"/>
              </a:buClr>
              <a:buSzPts val="700"/>
              <a:buNone/>
              <a:defRPr sz="700">
                <a:solidFill>
                  <a:srgbClr val="99969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37"/>
          <p:cNvSpPr txBox="1">
            <a:spLocks noGrp="1"/>
          </p:cNvSpPr>
          <p:nvPr>
            <p:ph type="title"/>
          </p:nvPr>
        </p:nvSpPr>
        <p:spPr>
          <a:xfrm>
            <a:off x="838200" y="747091"/>
            <a:ext cx="8143754" cy="59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 ExtraBold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7"/>
          <p:cNvSpPr txBox="1">
            <a:spLocks noGrp="1"/>
          </p:cNvSpPr>
          <p:nvPr>
            <p:ph type="body" idx="3"/>
          </p:nvPr>
        </p:nvSpPr>
        <p:spPr>
          <a:xfrm>
            <a:off x="838200" y="1342665"/>
            <a:ext cx="8143754" cy="31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3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1" name="Google Shape;111;p137" descr="A logo with yellow and purple line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1115230" y="5965371"/>
            <a:ext cx="762634" cy="7951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7"/>
          <p:cNvSpPr/>
          <p:nvPr/>
        </p:nvSpPr>
        <p:spPr>
          <a:xfrm>
            <a:off x="7842666" y="5926300"/>
            <a:ext cx="866512" cy="8567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7"/>
          <p:cNvSpPr/>
          <p:nvPr/>
        </p:nvSpPr>
        <p:spPr>
          <a:xfrm>
            <a:off x="6091433" y="5957103"/>
            <a:ext cx="1096415" cy="7951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7" descr="A yellow and black rectangle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57823" y="6021963"/>
            <a:ext cx="1692075" cy="6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1_Custom Layout 2 1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2"/>
          <p:cNvSpPr/>
          <p:nvPr/>
        </p:nvSpPr>
        <p:spPr>
          <a:xfrm rot="10800000">
            <a:off x="-4" y="914914"/>
            <a:ext cx="12192003" cy="5028170"/>
          </a:xfrm>
          <a:custGeom>
            <a:avLst/>
            <a:gdLst/>
            <a:ahLst/>
            <a:cxnLst/>
            <a:rect l="l" t="t" r="r" b="b"/>
            <a:pathLst>
              <a:path w="12192000" h="5028170" extrusionOk="0">
                <a:moveTo>
                  <a:pt x="7949170" y="5028170"/>
                </a:moveTo>
                <a:lnTo>
                  <a:pt x="4242831" y="5028170"/>
                </a:lnTo>
                <a:lnTo>
                  <a:pt x="4057552" y="4657612"/>
                </a:lnTo>
                <a:lnTo>
                  <a:pt x="0" y="4657612"/>
                </a:lnTo>
                <a:lnTo>
                  <a:pt x="0" y="4195708"/>
                </a:lnTo>
                <a:lnTo>
                  <a:pt x="0" y="3193429"/>
                </a:lnTo>
                <a:lnTo>
                  <a:pt x="0" y="3023614"/>
                </a:lnTo>
                <a:lnTo>
                  <a:pt x="0" y="2561710"/>
                </a:lnTo>
                <a:lnTo>
                  <a:pt x="0" y="2004556"/>
                </a:lnTo>
                <a:lnTo>
                  <a:pt x="0" y="1559431"/>
                </a:lnTo>
                <a:lnTo>
                  <a:pt x="0" y="370558"/>
                </a:lnTo>
                <a:lnTo>
                  <a:pt x="4057550" y="370558"/>
                </a:lnTo>
                <a:lnTo>
                  <a:pt x="4242830" y="0"/>
                </a:lnTo>
                <a:lnTo>
                  <a:pt x="7949169" y="0"/>
                </a:lnTo>
                <a:lnTo>
                  <a:pt x="8134447" y="370558"/>
                </a:lnTo>
                <a:lnTo>
                  <a:pt x="12192000" y="370558"/>
                </a:lnTo>
                <a:lnTo>
                  <a:pt x="12192000" y="1559431"/>
                </a:lnTo>
                <a:lnTo>
                  <a:pt x="12192000" y="1559431"/>
                </a:lnTo>
                <a:lnTo>
                  <a:pt x="12192000" y="2561710"/>
                </a:lnTo>
                <a:lnTo>
                  <a:pt x="12192000" y="2561710"/>
                </a:lnTo>
                <a:lnTo>
                  <a:pt x="12192000" y="4195708"/>
                </a:lnTo>
                <a:lnTo>
                  <a:pt x="12192000" y="4195708"/>
                </a:lnTo>
                <a:lnTo>
                  <a:pt x="12192000" y="4657612"/>
                </a:lnTo>
                <a:lnTo>
                  <a:pt x="8134449" y="465761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32"/>
          <p:cNvSpPr txBox="1">
            <a:spLocks noGrp="1"/>
          </p:cNvSpPr>
          <p:nvPr>
            <p:ph type="title"/>
          </p:nvPr>
        </p:nvSpPr>
        <p:spPr>
          <a:xfrm>
            <a:off x="838200" y="2486025"/>
            <a:ext cx="10515600" cy="708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2"/>
          <p:cNvSpPr txBox="1">
            <a:spLocks noGrp="1"/>
          </p:cNvSpPr>
          <p:nvPr>
            <p:ph type="body" idx="1"/>
          </p:nvPr>
        </p:nvSpPr>
        <p:spPr>
          <a:xfrm>
            <a:off x="838200" y="3194048"/>
            <a:ext cx="10515600" cy="92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32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rgbClr val="990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32"/>
          <p:cNvSpPr txBox="1">
            <a:spLocks noGrp="1"/>
          </p:cNvSpPr>
          <p:nvPr>
            <p:ph type="sldNum" idx="12"/>
          </p:nvPr>
        </p:nvSpPr>
        <p:spPr>
          <a:xfrm>
            <a:off x="-94267" y="6259561"/>
            <a:ext cx="428730" cy="27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44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" name="Google Shape;12;p1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" name="Google Shape;13;p1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" name="Google Shape;14;p1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t.ly/jason-rp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sheetseries.owasp.org/cheatsheets/Authorization_Cheat_Shee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abase.com/docs/guides/auth" TargetMode="External"/><Relationship Id="rId5" Type="http://schemas.openxmlformats.org/officeDocument/2006/relationships/hyperlink" Target="https://developers.google.com/identity/protocols/oauth2/resources/best-practices" TargetMode="External"/><Relationship Id="rId4" Type="http://schemas.openxmlformats.org/officeDocument/2006/relationships/hyperlink" Target="https://workos.com/blog/oauth-and-jwt-how-to-use-and-best-practic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dc543835_0_2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October 8, 2025</a:t>
            </a:r>
            <a:endParaRPr/>
          </a:p>
        </p:txBody>
      </p:sp>
      <p:sp>
        <p:nvSpPr>
          <p:cNvPr id="127" name="Google Shape;127;g389dc543835_0_2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</a:pPr>
            <a:r>
              <a:rPr lang="en-US" sz="6600" dirty="0">
                <a:solidFill>
                  <a:schemeClr val="dk1"/>
                </a:solidFill>
              </a:rPr>
              <a:t>Web Science Application Development</a:t>
            </a:r>
            <a:endParaRPr sz="6600" dirty="0">
              <a:solidFill>
                <a:schemeClr val="dk1"/>
              </a:solidFill>
            </a:endParaRPr>
          </a:p>
        </p:txBody>
      </p:sp>
      <p:pic>
        <p:nvPicPr>
          <p:cNvPr id="128" name="Google Shape;128;g389dc543835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500" y="4750649"/>
            <a:ext cx="1695875" cy="98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89dc543835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6094" y="4255848"/>
            <a:ext cx="2076569" cy="208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89dc543835_0_2" descr="Programs | NY I-Corps 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7222" y="4587646"/>
            <a:ext cx="1957443" cy="1423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</a:pPr>
            <a:r>
              <a:rPr lang="en-US" dirty="0"/>
              <a:t>Part 2: O</a:t>
            </a:r>
            <a:endParaRPr dirty="0"/>
          </a:p>
        </p:txBody>
      </p:sp>
      <p:sp>
        <p:nvSpPr>
          <p:cNvPr id="136" name="Google Shape;136;p2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75" y="1683399"/>
            <a:ext cx="2155900" cy="21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75175" y="3936425"/>
            <a:ext cx="28050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Jason Kuruzovich, PhD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Associate Professor of Business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B518E-78FD-C4FD-3BC1-6F407F47F510}"/>
              </a:ext>
            </a:extLst>
          </p:cNvPr>
          <p:cNvSpPr txBox="1"/>
          <p:nvPr/>
        </p:nvSpPr>
        <p:spPr>
          <a:xfrm>
            <a:off x="3622222" y="1905506"/>
            <a:ext cx="61341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</a:rPr>
              <a:t>Feel free to reach out for help</a:t>
            </a:r>
            <a:endParaRPr lang="en-US"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32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 a meeting: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https://bit.ly/jason-rpi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Rensselaer Polytechnic Institute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kuruzj@rpi.edu</a:t>
            </a:r>
            <a:endParaRPr lang="en-US"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518-698-9910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0191-DD60-0685-3E39-FF4E674C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Parts of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6FFDC-216F-728D-0D9A-69E33D638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Core Engineering Pillars</a:t>
            </a:r>
            <a:endParaRPr lang="en-US" dirty="0"/>
          </a:p>
          <a:p>
            <a:r>
              <a:rPr lang="en-US" b="1" dirty="0"/>
              <a:t>Authentication &amp; Authorization</a:t>
            </a:r>
            <a:endParaRPr lang="en-US" dirty="0"/>
          </a:p>
          <a:p>
            <a:r>
              <a:rPr lang="en-US" b="1" dirty="0"/>
              <a:t>Testing</a:t>
            </a:r>
            <a:r>
              <a:rPr lang="en-US" dirty="0"/>
              <a:t> (Unit &amp; Integration)</a:t>
            </a:r>
          </a:p>
          <a:p>
            <a:r>
              <a:rPr lang="en-US" b="1" dirty="0"/>
              <a:t>Deployment</a:t>
            </a:r>
            <a:r>
              <a:rPr lang="en-US" dirty="0"/>
              <a:t> (Architecture &amp; CI/CD Pipelines)</a:t>
            </a:r>
          </a:p>
          <a:p>
            <a:r>
              <a:rPr lang="en-US" b="1" dirty="0"/>
              <a:t>Security Hardening </a:t>
            </a:r>
            <a:r>
              <a:rPr lang="en-US" dirty="0"/>
              <a:t>(DOS/Rate Limiting)</a:t>
            </a:r>
            <a:endParaRPr lang="en-US" b="1" dirty="0"/>
          </a:p>
          <a:p>
            <a:r>
              <a:rPr lang="en-US" b="1" dirty="0"/>
              <a:t>Agentic Systems</a:t>
            </a:r>
            <a:r>
              <a:rPr lang="en-US" dirty="0"/>
              <a:t> (</a:t>
            </a:r>
            <a:r>
              <a:rPr lang="en-US" dirty="0" err="1"/>
              <a:t>LangChain</a:t>
            </a:r>
            <a:r>
              <a:rPr lang="en-US" dirty="0"/>
              <a:t> &amp; Tooling)</a:t>
            </a: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b="1" dirty="0"/>
              <a:t>In Parallel, We Will:</a:t>
            </a:r>
            <a:endParaRPr lang="en-US" dirty="0"/>
          </a:p>
          <a:p>
            <a:r>
              <a:rPr lang="en-US" dirty="0"/>
              <a:t>Deepen our understanding of </a:t>
            </a:r>
            <a:r>
              <a:rPr lang="en-US" b="1" dirty="0"/>
              <a:t>React fundamentals and patterns</a:t>
            </a:r>
            <a:endParaRPr lang="en-US" dirty="0"/>
          </a:p>
          <a:p>
            <a:r>
              <a:rPr lang="en-US" dirty="0"/>
              <a:t>Compare and evaluate </a:t>
            </a:r>
            <a:r>
              <a:rPr lang="en-US" b="1" dirty="0"/>
              <a:t>modern web frameworks</a:t>
            </a:r>
            <a:r>
              <a:rPr lang="en-US" dirty="0"/>
              <a:t> (e.g., Flask)</a:t>
            </a:r>
          </a:p>
          <a:p>
            <a:r>
              <a:rPr lang="en-US" dirty="0"/>
              <a:t>Connect architectural decisions to real-world tradeoffs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427F4-9F46-A8B9-5C26-7DC7587662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4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200F-D013-47ED-1A64-72178917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</a:t>
            </a:r>
            <a:r>
              <a:rPr lang="en-US" b="1" dirty="0"/>
              <a:t>Learning Objectives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B263E-B115-9330-8519-C68C097B7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  <a:p>
            <a:r>
              <a:rPr lang="en-US" dirty="0"/>
              <a:t>By the end of class, students should be able to:</a:t>
            </a:r>
          </a:p>
          <a:p>
            <a:r>
              <a:rPr lang="en-US" dirty="0"/>
              <a:t>Explain the difference between </a:t>
            </a:r>
            <a:r>
              <a:rPr lang="en-US" b="1" dirty="0"/>
              <a:t>Authentication vs Authorization</a:t>
            </a:r>
            <a:endParaRPr lang="en-US" dirty="0"/>
          </a:p>
          <a:p>
            <a:r>
              <a:rPr lang="en-US" dirty="0"/>
              <a:t>Describe </a:t>
            </a:r>
            <a:r>
              <a:rPr lang="en-US" b="1" dirty="0"/>
              <a:t>row-level security (RLS)</a:t>
            </a:r>
            <a:r>
              <a:rPr lang="en-US" dirty="0"/>
              <a:t> and why it matters</a:t>
            </a:r>
          </a:p>
          <a:p>
            <a:r>
              <a:rPr lang="en-US" dirty="0"/>
              <a:t>Implement basic email/password auth with </a:t>
            </a:r>
            <a:r>
              <a:rPr lang="en-US" dirty="0" err="1"/>
              <a:t>Supabase</a:t>
            </a:r>
            <a:endParaRPr lang="en-US" dirty="0"/>
          </a:p>
          <a:p>
            <a:r>
              <a:rPr lang="en-US" dirty="0"/>
              <a:t>Enable OAuth login (Google)</a:t>
            </a:r>
          </a:p>
          <a:p>
            <a:r>
              <a:rPr lang="en-US" dirty="0"/>
              <a:t>Enforce per-user data isolation using RLS</a:t>
            </a:r>
          </a:p>
          <a:p>
            <a:r>
              <a:rPr lang="en-US" dirty="0"/>
              <a:t>Explain tradeoffs between JWT/session auth and OAuth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37A7C-DB79-A6A4-CCC2-B88A490C4A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A93C-724E-C418-6EC2-9AC74151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AC969-19BD-AAA7-8495-0F5557652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Industry Standards &amp; Best Practice Guides</a:t>
            </a:r>
            <a:endParaRPr lang="en-US" dirty="0"/>
          </a:p>
          <a:p>
            <a:r>
              <a:rPr lang="en-US" b="1" dirty="0"/>
              <a:t>1. </a:t>
            </a:r>
            <a:r>
              <a:rPr lang="en-US" b="1" dirty="0">
                <a:hlinkClick r:id="rId3"/>
              </a:rPr>
              <a:t>OWASP Authorization Cheat Sheet</a:t>
            </a:r>
            <a:endParaRPr lang="en-US" dirty="0"/>
          </a:p>
          <a:p>
            <a:r>
              <a:rPr lang="en-US" b="1" dirty="0"/>
              <a:t>2. </a:t>
            </a:r>
            <a:r>
              <a:rPr lang="en-US" b="1" dirty="0" err="1">
                <a:hlinkClick r:id="rId4"/>
              </a:rPr>
              <a:t>WorkOS</a:t>
            </a:r>
            <a:r>
              <a:rPr lang="en-US" b="1" dirty="0">
                <a:hlinkClick r:id="rId4"/>
              </a:rPr>
              <a:t> — OAuth and JWT Best Practices</a:t>
            </a:r>
            <a:endParaRPr lang="en-US" dirty="0"/>
          </a:p>
          <a:p>
            <a:r>
              <a:rPr lang="en-US" b="1" dirty="0"/>
              <a:t>3. </a:t>
            </a:r>
            <a:r>
              <a:rPr lang="en-US" b="1" dirty="0">
                <a:hlinkClick r:id="rId5"/>
              </a:rPr>
              <a:t>Google Developers — OAuth2 Best Practices</a:t>
            </a:r>
            <a:endParaRPr lang="en-US" dirty="0"/>
          </a:p>
          <a:p>
            <a:r>
              <a:rPr lang="en-US" b="1" dirty="0"/>
              <a:t>4. </a:t>
            </a:r>
            <a:r>
              <a:rPr lang="en-US" b="1" dirty="0" err="1">
                <a:hlinkClick r:id="rId6"/>
              </a:rPr>
              <a:t>Supabase</a:t>
            </a:r>
            <a:r>
              <a:rPr lang="en-US" b="1" dirty="0">
                <a:hlinkClick r:id="rId6"/>
              </a:rPr>
              <a:t> Authentication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3B46-49FE-FF3E-22BB-886E2F5D51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8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C07850-AC86-8676-E2F2-F3100507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authentication and authorization?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9D81C-18F3-DDC0-3662-9830C10FCF1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0" y="6259513"/>
            <a:ext cx="495300" cy="271462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1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358A-E381-8E8B-9BD1-B2A3E251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Authentication vs Authorization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BF119-D4DC-DFF8-3C67-D53CEEDAA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= Who are you?</a:t>
            </a:r>
          </a:p>
          <a:p>
            <a:r>
              <a:rPr lang="en-US" dirty="0"/>
              <a:t>Authorization = What are you allowed to do?</a:t>
            </a:r>
          </a:p>
          <a:p>
            <a:pPr marL="139700" indent="0">
              <a:buNone/>
            </a:pP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Login to Netflix (auth)</a:t>
            </a:r>
          </a:p>
          <a:p>
            <a:r>
              <a:rPr lang="en-US" dirty="0"/>
              <a:t>Only see your profile &amp; watch history (authorization)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A3C5B-82A3-F626-21D8-40A360118F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8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1FB8-DE4D-3B58-DAB0-AC461A19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Authorization: </a:t>
            </a:r>
            <a:r>
              <a:rPr lang="en-US" b="1" dirty="0"/>
              <a:t>Identify and protect critical system actions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AA2B-BCD4-3D93-B16D-5BC77275E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r>
              <a:rPr lang="en-US" dirty="0"/>
              <a:t>Create purchase order</a:t>
            </a:r>
          </a:p>
          <a:p>
            <a:r>
              <a:rPr lang="en-US" dirty="0"/>
              <a:t>Add vendor</a:t>
            </a:r>
          </a:p>
          <a:p>
            <a:r>
              <a:rPr lang="en-US" dirty="0"/>
              <a:t>Issue refund</a:t>
            </a:r>
          </a:p>
          <a:p>
            <a:r>
              <a:rPr lang="en-US" dirty="0"/>
              <a:t>Change pricing</a:t>
            </a:r>
          </a:p>
          <a:p>
            <a:r>
              <a:rPr lang="en-US" dirty="0"/>
              <a:t>Modify user roles</a:t>
            </a:r>
          </a:p>
          <a:p>
            <a:r>
              <a:rPr lang="en-US" dirty="0"/>
              <a:t>Export customer data</a:t>
            </a:r>
          </a:p>
          <a:p>
            <a:pPr marL="139700" indent="0">
              <a:buNone/>
            </a:pPr>
            <a:r>
              <a:rPr lang="en-US" dirty="0"/>
              <a:t>These require:</a:t>
            </a:r>
          </a:p>
          <a:p>
            <a:r>
              <a:rPr lang="en-US" dirty="0"/>
              <a:t>Strong authentication</a:t>
            </a:r>
          </a:p>
          <a:p>
            <a:r>
              <a:rPr lang="en-US" dirty="0"/>
              <a:t>Explicit authorization rules</a:t>
            </a:r>
          </a:p>
          <a:p>
            <a:r>
              <a:rPr lang="en-US" dirty="0"/>
              <a:t>Often additional controls (logging, approvals, MFA)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E4259-CD89-A4DD-90BB-F8F81665F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6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0A74-C687-3CAD-E04B-E2EF4BCE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Concept: Identity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56C6-07C0-6C3E-44E5-3BCE204F9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logs in → system issues token (JWT or session)</a:t>
            </a:r>
          </a:p>
          <a:p>
            <a:pPr lvl="1"/>
            <a:r>
              <a:rPr lang="en-US" dirty="0"/>
              <a:t>Token sent with every request</a:t>
            </a:r>
          </a:p>
          <a:p>
            <a:pPr lvl="1"/>
            <a:r>
              <a:rPr lang="en-US" dirty="0"/>
              <a:t>Backend verifies token</a:t>
            </a:r>
          </a:p>
          <a:p>
            <a:pPr lvl="1"/>
            <a:r>
              <a:rPr lang="en-US" dirty="0"/>
              <a:t>Database may enforce identity (RLS)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E19A1-70CE-15F1-7A5F-3AEEE1D71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2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2F47-38B5-AA9C-ECEB-B7C9C2CA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JWT?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0DC69-919B-C182-5F23-B05A1DFDB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JSON Web Token (JWT):</a:t>
            </a:r>
            <a:r>
              <a:rPr lang="en-US" dirty="0"/>
              <a:t> a compact, URL-safe token for transmitting claims</a:t>
            </a:r>
          </a:p>
          <a:p>
            <a:r>
              <a:rPr lang="en-US" dirty="0"/>
              <a:t>Structure:</a:t>
            </a:r>
          </a:p>
          <a:p>
            <a:r>
              <a:rPr lang="en-US" b="1" dirty="0"/>
              <a:t>Header</a:t>
            </a:r>
            <a:r>
              <a:rPr lang="en-US" dirty="0"/>
              <a:t> — algorithm &amp; token type</a:t>
            </a:r>
          </a:p>
          <a:p>
            <a:r>
              <a:rPr lang="en-US" b="1" dirty="0"/>
              <a:t>Payload</a:t>
            </a:r>
            <a:r>
              <a:rPr lang="en-US" dirty="0"/>
              <a:t> — claims (user ID, role)</a:t>
            </a:r>
          </a:p>
          <a:p>
            <a:r>
              <a:rPr lang="en-US" b="1" dirty="0"/>
              <a:t>Signature</a:t>
            </a:r>
            <a:r>
              <a:rPr lang="en-US" dirty="0"/>
              <a:t> — cryptographically signed data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Verified by server without storing session state 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5B89A-5FDD-47E5-FA11-65023F0B22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1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we securely store passwords?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Hashing with bcrypt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Never store passwords in plain text!</a:t>
            </a:r>
          </a:p>
          <a:p>
            <a:r>
              <a:t>Hashing = one-way function (cannot reverse)</a:t>
            </a:r>
          </a:p>
          <a:p>
            <a:pPr lvl="1"/>
            <a:r>
              <a:t>bcrypt adds a random salt automatically</a:t>
            </a:r>
          </a:p>
          <a:p>
            <a:pPr lvl="1"/>
            <a:r>
              <a:t>bcrypt is intentionally slow (cost factor)</a:t>
            </a:r>
          </a:p>
          <a:p>
            <a:r>
              <a:rPr b="1"/>
              <a:t>Flow:</a:t>
            </a:r>
          </a:p>
          <a:p>
            <a:pPr lvl="1"/>
            <a:r>
              <a:t>Registration: password → bcrypt.hash() → store hash</a:t>
            </a:r>
          </a:p>
          <a:p>
            <a:pPr lvl="1"/>
            <a:r>
              <a:t>Login: password + stored hash → bcrypt.compare() → true/false</a:t>
            </a:r>
          </a:p>
          <a:p>
            <a:r>
              <a:rPr b="1"/>
              <a:t>Why not SHA-256?</a:t>
            </a:r>
          </a:p>
          <a:p>
            <a:pPr lvl="1"/>
            <a:r>
              <a:t>Too fast — attackers can brute-force billions/sec</a:t>
            </a:r>
          </a:p>
          <a:p>
            <a:pPr lvl="1"/>
            <a:r>
              <a:t>No built-in salt — vulnerable to rainbow tables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Tokens vs Refresh Tokens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Access Token</a:t>
            </a:r>
          </a:p>
          <a:p>
            <a:pPr lvl="1"/>
            <a:r>
              <a:t>Short-lived (15 min – 1 hr)</a:t>
            </a:r>
          </a:p>
          <a:p>
            <a:pPr lvl="1"/>
            <a:r>
              <a:t>Sent with every API request</a:t>
            </a:r>
          </a:p>
          <a:p>
            <a:pPr lvl="1"/>
            <a:r>
              <a:t>Contains user claims (ID, role)</a:t>
            </a:r>
          </a:p>
          <a:p>
            <a:pPr lvl="1"/>
            <a:r>
              <a:t>If stolen, limited damage window</a:t>
            </a:r>
          </a:p>
          <a:p>
            <a:r>
              <a:rPr b="1"/>
              <a:t>Refresh Token</a:t>
            </a:r>
          </a:p>
          <a:p>
            <a:pPr lvl="1"/>
            <a:r>
              <a:t>Long-lived (days – weeks)</a:t>
            </a:r>
          </a:p>
          <a:p>
            <a:pPr lvl="1"/>
            <a:r>
              <a:t>Used only to get a new access token</a:t>
            </a:r>
          </a:p>
          <a:p>
            <a:pPr lvl="1"/>
            <a:r>
              <a:t>Stored securely (httpOnly cookie or server-side)</a:t>
            </a:r>
          </a:p>
          <a:p>
            <a:pPr lvl="1"/>
            <a:r>
              <a:t>Can be revoked to "log out" a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Refresh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User logs in → server returns access token + refresh token</a:t>
            </a:r>
          </a:p>
          <a:p>
            <a:r>
              <a:t>2. Client sends access token with each API request</a:t>
            </a:r>
          </a:p>
          <a:p>
            <a:r>
              <a:t>3. Access token expires (e.g., after 15 minutes)</a:t>
            </a:r>
          </a:p>
          <a:p>
            <a:r>
              <a:t>4. Client sends refresh token to /api/refresh</a:t>
            </a:r>
          </a:p>
          <a:p>
            <a:r>
              <a:t>5. Server verifies refresh token, issues new access token</a:t>
            </a:r>
          </a:p>
          <a:p>
            <a:r>
              <a:t>6. If refresh token is expired/revoked → user must log in again</a:t>
            </a:r>
          </a:p>
          <a:p>
            <a:r>
              <a:rPr b="1"/>
              <a:t>Benefits:</a:t>
            </a:r>
          </a:p>
          <a:p>
            <a:pPr lvl="1"/>
            <a:r>
              <a:t>Users stay logged in without re-entering credentials</a:t>
            </a:r>
          </a:p>
          <a:p>
            <a:pPr lvl="1"/>
            <a:r>
              <a:t>Compromised access tokens expire quickly</a:t>
            </a:r>
          </a:p>
          <a:p>
            <a:pPr lvl="1"/>
            <a:r>
              <a:t>Server can revoke refresh tokens (unlike stateless JWTs)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OAuth fit 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OAuth 2.0: Delegated Authentication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"Let users log in with Google/GitHub instead of a password"</a:t>
            </a:r>
          </a:p>
          <a:p>
            <a:r>
              <a:rPr b="1"/>
              <a:t>Key Players:</a:t>
            </a:r>
          </a:p>
          <a:p>
            <a:pPr lvl="1"/>
            <a:r>
              <a:t>Resource Owner — the user</a:t>
            </a:r>
          </a:p>
          <a:p>
            <a:pPr lvl="1"/>
            <a:r>
              <a:t>Client — your app</a:t>
            </a:r>
          </a:p>
          <a:p>
            <a:pPr lvl="1"/>
            <a:r>
              <a:t>Authorization Server — Google, GitHub, etc.</a:t>
            </a:r>
          </a:p>
          <a:p>
            <a:pPr lvl="1"/>
            <a:r>
              <a:t>Resource Server — API that holds user data</a:t>
            </a:r>
          </a:p>
          <a:p>
            <a:r>
              <a:rPr b="1"/>
              <a:t>Flow (Authorization Code):</a:t>
            </a:r>
          </a:p>
          <a:p>
            <a:pPr lvl="1"/>
            <a:r>
              <a:t>App redirects user to provider's login page</a:t>
            </a:r>
          </a:p>
          <a:p>
            <a:pPr lvl="1"/>
            <a:r>
              <a:t>User approves → provider sends auth code to your app</a:t>
            </a:r>
          </a:p>
          <a:p>
            <a:pPr lvl="1"/>
            <a:r>
              <a:t>App exchanges code for access token (server-to-server)</a:t>
            </a:r>
          </a:p>
          <a:p>
            <a:pPr lvl="1"/>
            <a:r>
              <a:t>App uses token to fetch user profile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vs Session-Based Auth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Session-Based:</a:t>
            </a:r>
          </a:p>
          <a:p>
            <a:pPr lvl="1"/>
            <a:r>
              <a:t>Server stores session in memory/database</a:t>
            </a:r>
          </a:p>
          <a:p>
            <a:pPr lvl="1"/>
            <a:r>
              <a:t>Client gets a session ID cookie</a:t>
            </a:r>
          </a:p>
          <a:p>
            <a:pPr lvl="1"/>
            <a:r>
              <a:t>Server looks up session on each request</a:t>
            </a:r>
          </a:p>
          <a:p>
            <a:pPr lvl="1"/>
            <a:r>
              <a:t>Easy to revoke (delete the session)</a:t>
            </a:r>
          </a:p>
          <a:p>
            <a:r>
              <a:rPr b="1"/>
              <a:t>JWT-Based:</a:t>
            </a:r>
          </a:p>
          <a:p>
            <a:pPr lvl="1"/>
            <a:r>
              <a:t>Server does NOT store state — token is self-contained</a:t>
            </a:r>
          </a:p>
          <a:p>
            <a:pPr lvl="1"/>
            <a:r>
              <a:t>Client stores token (localStorage, cookie, memory)</a:t>
            </a:r>
          </a:p>
          <a:p>
            <a:pPr lvl="1"/>
            <a:r>
              <a:t>Server verifies signature on each request</a:t>
            </a:r>
          </a:p>
          <a:p>
            <a:pPr lvl="1"/>
            <a:r>
              <a:t>Hard to revoke before expiry (need blocklist)</a:t>
            </a:r>
          </a:p>
          <a:p>
            <a:r>
              <a:rPr b="1"/>
              <a:t>Trade-off: JWTs scale better; sessions revoke easier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Middleware: Protecting Routes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Middleware = function that runs before route handler</a:t>
            </a:r>
          </a:p>
          <a:p>
            <a:r>
              <a:rPr b="1"/>
              <a:t>Authentication middleware pattern:</a:t>
            </a:r>
          </a:p>
          <a:p>
            <a:pPr lvl="1"/>
            <a:r>
              <a:t>Extract token from Authorization header</a:t>
            </a:r>
          </a:p>
          <a:p>
            <a:pPr lvl="1"/>
            <a:r>
              <a:t>Verify token signature and expiration</a:t>
            </a:r>
          </a:p>
          <a:p>
            <a:pPr lvl="1"/>
            <a:r>
              <a:t>Attach user info to request object</a:t>
            </a:r>
          </a:p>
          <a:p>
            <a:pPr lvl="1"/>
            <a:r>
              <a:t>Call next() to proceed, or return 401/403</a:t>
            </a:r>
          </a:p>
          <a:p>
            <a:r>
              <a:rPr b="1"/>
              <a:t>401 Unauthorized — no token or invalid credentials</a:t>
            </a:r>
          </a:p>
          <a:p>
            <a:r>
              <a:rPr b="1"/>
              <a:t>403 Forbidden — token present but invalid/expired</a:t>
            </a:r>
          </a:p>
          <a:p>
            <a:r>
              <a:t>Apply per-route: app.get('/secret', authMiddleware, handler)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Passwords:</a:t>
            </a:r>
          </a:p>
          <a:p>
            <a:pPr lvl="1"/>
            <a:r>
              <a:t>Always hash with bcrypt (cost factor &gt;= 10)</a:t>
            </a:r>
          </a:p>
          <a:p>
            <a:pPr lvl="1"/>
            <a:r>
              <a:t>Never log or return passwords in API responses</a:t>
            </a:r>
          </a:p>
          <a:p>
            <a:r>
              <a:rPr b="1"/>
              <a:t>Tokens:</a:t>
            </a:r>
          </a:p>
          <a:p>
            <a:pPr lvl="1"/>
            <a:r>
              <a:t>Keep access tokens short-lived</a:t>
            </a:r>
          </a:p>
          <a:p>
            <a:pPr lvl="1"/>
            <a:r>
              <a:t>Use HTTPS in production (tokens travel in headers)</a:t>
            </a:r>
          </a:p>
          <a:p>
            <a:pPr lvl="1"/>
            <a:r>
              <a:t>Store secrets in environment variables, not code</a:t>
            </a:r>
          </a:p>
          <a:p>
            <a:r>
              <a:rPr b="1"/>
              <a:t>General:</a:t>
            </a:r>
          </a:p>
          <a:p>
            <a:pPr lvl="1"/>
            <a:r>
              <a:t>Validate all input (username, password length)</a:t>
            </a:r>
          </a:p>
          <a:p>
            <a:pPr lvl="1"/>
            <a:r>
              <a:t>Rate-limit login attempts to prevent brute force</a:t>
            </a:r>
          </a:p>
          <a:p>
            <a:pPr lvl="1"/>
            <a:r>
              <a:t>Use generic error messages ("Invalid username or password")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Security (RLS)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even authenticated users shouldn't see other users' data</a:t>
            </a:r>
          </a:p>
          <a:p>
            <a:r>
              <a:rPr b="1"/>
              <a:t>RLS = database enforces per-user data isolation</a:t>
            </a:r>
          </a:p>
          <a:p>
            <a:r>
              <a:t>How it works:</a:t>
            </a:r>
          </a:p>
          <a:p>
            <a:pPr lvl="1"/>
            <a:r>
              <a:t>Database policy checks user ID on every query</a:t>
            </a:r>
          </a:p>
          <a:p>
            <a:pPr lvl="1"/>
            <a:r>
              <a:t>SELECT * FROM todos → only returns YOUR todos</a:t>
            </a:r>
          </a:p>
          <a:p>
            <a:pPr lvl="1"/>
            <a:r>
              <a:t>Even if app code has a bug, DB blocks unauthorized access</a:t>
            </a:r>
          </a:p>
          <a:p>
            <a:r>
              <a:t>Supported by: Supabase (Postgres), Oracle, SQL Server</a:t>
            </a:r>
          </a:p>
          <a:p>
            <a:r>
              <a:rPr b="1"/>
              <a:t>Defense in depth — don't rely solely on app-level checks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6: JWT Authentication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a REST API with Express + JWT from scratch:</a:t>
            </a:r>
          </a:p>
          <a:p>
            <a:pPr lvl="1"/>
            <a:r>
              <a:t>Set up Express server with health check</a:t>
            </a:r>
          </a:p>
          <a:p>
            <a:pPr lvl="1"/>
            <a:r>
              <a:t>Implement user registration with bcrypt</a:t>
            </a:r>
          </a:p>
          <a:p>
            <a:pPr lvl="1"/>
            <a:r>
              <a:t>Implement login that returns access + refresh tokens</a:t>
            </a:r>
          </a:p>
          <a:p>
            <a:pPr lvl="1"/>
            <a:r>
              <a:t>Create middleware to protect routes</a:t>
            </a:r>
          </a:p>
          <a:p>
            <a:pPr lvl="1"/>
            <a:r>
              <a:t>Add refresh token endpoint</a:t>
            </a:r>
          </a:p>
          <a:p>
            <a:pPr lvl="1"/>
            <a:r>
              <a:t>Test everything with curl</a:t>
            </a:r>
          </a:p>
          <a:p>
            <a:r>
              <a:rPr b="1"/>
              <a:t>Automated grading: push to GitHub → 8 tests run automatically</a:t>
            </a:r>
          </a:p>
          <a:p>
            <a:pPr lvl="1"/>
            <a:r>
              <a:t>Check results in the Actions tab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we know our code actually works?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Unit Tests</a:t>
            </a:r>
          </a:p>
          <a:p>
            <a:pPr lvl="1"/>
            <a:r>
              <a:t>Test a single function in isolation</a:t>
            </a:r>
          </a:p>
          <a:p>
            <a:pPr lvl="1"/>
            <a:r>
              <a:t>Example: does bcrypt.hash() produce a valid hash?</a:t>
            </a:r>
          </a:p>
          <a:p>
            <a:pPr lvl="1"/>
            <a:r>
              <a:t>Fast — run hundreds in seconds</a:t>
            </a:r>
          </a:p>
          <a:p>
            <a:r>
              <a:rPr b="1"/>
              <a:t>Integration Tests</a:t>
            </a:r>
          </a:p>
          <a:p>
            <a:pPr lvl="1"/>
            <a:r>
              <a:t>Test components working together</a:t>
            </a:r>
          </a:p>
          <a:p>
            <a:pPr lvl="1"/>
            <a:r>
              <a:t>Example: does POST /api/register actually store a user?</a:t>
            </a:r>
          </a:p>
          <a:p>
            <a:pPr lvl="1"/>
            <a:r>
              <a:t>Slower — may need a running server or database</a:t>
            </a:r>
          </a:p>
          <a:p>
            <a:r>
              <a:rPr b="1"/>
              <a:t>End-to-End (E2E) Tests</a:t>
            </a:r>
          </a:p>
          <a:p>
            <a:pPr lvl="1"/>
            <a:r>
              <a:t>Test the full user flow from client to server</a:t>
            </a:r>
          </a:p>
          <a:p>
            <a:pPr lvl="1"/>
            <a:r>
              <a:t>Example: register → login → access protected route</a:t>
            </a:r>
          </a:p>
          <a:p>
            <a:pPr lvl="1"/>
            <a:r>
              <a:t>Slowest — but catches real-world bugs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Testing Pyramid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Many unit tests (fast, cheap, isolated)</a:t>
            </a:r>
          </a:p>
          <a:p>
            <a:r>
              <a:t>Fewer integration tests (moderate speed, test contracts)</a:t>
            </a:r>
          </a:p>
          <a:p>
            <a:r>
              <a:t>Few E2E tests (slow, expensive, high confidence)</a:t>
            </a:r>
          </a:p>
          <a:p>
            <a:r>
              <a:rPr b="1"/>
              <a:t>Why a pyramid?</a:t>
            </a:r>
          </a:p>
          <a:p>
            <a:pPr lvl="1"/>
            <a:r>
              <a:t>Unit tests catch most bugs quickly</a:t>
            </a:r>
          </a:p>
          <a:p>
            <a:pPr lvl="1"/>
            <a:r>
              <a:t>Integration tests verify components connect correctly</a:t>
            </a:r>
          </a:p>
          <a:p>
            <a:pPr lvl="1"/>
            <a:r>
              <a:t>E2E tests confirm the system works as a whole</a:t>
            </a:r>
          </a:p>
          <a:p>
            <a:r>
              <a:rPr b="1"/>
              <a:t>Anti-pattern: "ice cream cone" — too many E2E, too few unit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in This Lab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Our autograder uses integration tests via curl</a:t>
            </a:r>
          </a:p>
          <a:p>
            <a:pPr lvl="1"/>
            <a:r>
              <a:t>Each test sends an HTTP request and checks the response</a:t>
            </a:r>
          </a:p>
          <a:p>
            <a:pPr lvl="1"/>
            <a:r>
              <a:t>Tests run sequentially: register → login → use token</a:t>
            </a:r>
          </a:p>
          <a:p>
            <a:pPr lvl="1"/>
            <a:r>
              <a:t>This is exactly how you'd test a real API</a:t>
            </a:r>
          </a:p>
          <a:p>
            <a:r>
              <a:rPr b="1"/>
              <a:t>What the 8 tests cover:</a:t>
            </a:r>
          </a:p>
          <a:p>
            <a:pPr lvl="1"/>
            <a:r>
              <a:t>Health check (server is running)</a:t>
            </a:r>
          </a:p>
          <a:p>
            <a:pPr lvl="1"/>
            <a:r>
              <a:t>Registration (happy path + duplicate handling)</a:t>
            </a:r>
          </a:p>
          <a:p>
            <a:pPr lvl="1"/>
            <a:r>
              <a:t>Login (valid credentials + wrong password)</a:t>
            </a:r>
          </a:p>
          <a:p>
            <a:pPr lvl="1"/>
            <a:r>
              <a:t>Protected route (no token, valid token, garbage token)</a:t>
            </a:r>
          </a:p>
          <a:p>
            <a:r>
              <a:rPr b="1"/>
              <a:t>Key idea: tests document expected behavior</a:t>
            </a:r>
          </a:p>
          <a:p>
            <a:pPr lvl="1"/>
            <a:r>
              <a:t>If the tests pass, the API contract is met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Testing &amp; CI/CD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CI = Continuous Integration</a:t>
            </a:r>
          </a:p>
          <a:p>
            <a:pPr lvl="1"/>
            <a:r>
              <a:t>Every push triggers automated tests</a:t>
            </a:r>
          </a:p>
          <a:p>
            <a:pPr lvl="1"/>
            <a:r>
              <a:t>Catch bugs before they reach production</a:t>
            </a:r>
          </a:p>
          <a:p>
            <a:pPr lvl="1"/>
            <a:r>
              <a:t>GitHub Actions runs our autograder on every push</a:t>
            </a:r>
          </a:p>
          <a:p>
            <a:r>
              <a:rPr b="1"/>
              <a:t>CD = Continuous Deployment</a:t>
            </a:r>
          </a:p>
          <a:p>
            <a:pPr lvl="1"/>
            <a:r>
              <a:t>If tests pass, deploy automatically</a:t>
            </a:r>
          </a:p>
          <a:p>
            <a:pPr lvl="1"/>
            <a:r>
              <a:t>If tests fail, block the deployment</a:t>
            </a:r>
          </a:p>
          <a:p>
            <a:r>
              <a:rPr b="1"/>
              <a:t>Why this matters:</a:t>
            </a:r>
          </a:p>
          <a:p>
            <a:pPr lvl="1"/>
            <a:r>
              <a:t>Manual testing doesn't scale</a:t>
            </a:r>
          </a:p>
          <a:p>
            <a:pPr lvl="1"/>
            <a:r>
              <a:t>Automated tests give confidence to ship fast</a:t>
            </a:r>
          </a:p>
          <a:p>
            <a:pPr lvl="1"/>
            <a:r>
              <a:t>Tests are a safety net — not a replacement for good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1D3982"/>
      </a:accent1>
      <a:accent2>
        <a:srgbClr val="FD719F"/>
      </a:accent2>
      <a:accent3>
        <a:srgbClr val="EAB036"/>
      </a:accent3>
      <a:accent4>
        <a:srgbClr val="35045D"/>
      </a:accent4>
      <a:accent5>
        <a:srgbClr val="7573D1"/>
      </a:accent5>
      <a:accent6>
        <a:srgbClr val="E6AD34"/>
      </a:accent6>
      <a:hlink>
        <a:srgbClr val="5CC6DC"/>
      </a:hlink>
      <a:folHlink>
        <a:srgbClr val="266F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1509</Words>
  <Application>Microsoft Macintosh PowerPoint</Application>
  <PresentationFormat>Widescreen</PresentationFormat>
  <Paragraphs>238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Geist</vt:lpstr>
      <vt:lpstr>Raleway</vt:lpstr>
      <vt:lpstr>Arial</vt:lpstr>
      <vt:lpstr>Calibri</vt:lpstr>
      <vt:lpstr>Raleway ExtraBold</vt:lpstr>
      <vt:lpstr>Raleway SemiBold</vt:lpstr>
      <vt:lpstr>1_Office Theme</vt:lpstr>
      <vt:lpstr>Web Science Application Development</vt:lpstr>
      <vt:lpstr>Part 2: O</vt:lpstr>
      <vt:lpstr>Next Parts of Class</vt:lpstr>
      <vt:lpstr>Authentication Learning Objectives</vt:lpstr>
      <vt:lpstr>Readings</vt:lpstr>
      <vt:lpstr>What is the difference between authentication and authorization?</vt:lpstr>
      <vt:lpstr>Authentication vs Authorization</vt:lpstr>
      <vt:lpstr>Authorization: Identify and protect critical system actions</vt:lpstr>
      <vt:lpstr>Core Concept: Identity</vt:lpstr>
      <vt:lpstr>What Is a JWT?</vt:lpstr>
      <vt:lpstr>How do we securely store passwords?</vt:lpstr>
      <vt:lpstr>Password Hashing with bcrypt</vt:lpstr>
      <vt:lpstr>Access Tokens vs Refresh Tokens</vt:lpstr>
      <vt:lpstr>Token Refresh Flow</vt:lpstr>
      <vt:lpstr>How does OAuth fit in?</vt:lpstr>
      <vt:lpstr>OAuth 2.0: Delegated Authentication</vt:lpstr>
      <vt:lpstr>JWT vs Session-Based Auth</vt:lpstr>
      <vt:lpstr>Middleware: Protecting Routes</vt:lpstr>
      <vt:lpstr>Security Best Practices</vt:lpstr>
      <vt:lpstr>Row-Level Security (RLS)</vt:lpstr>
      <vt:lpstr>Lab 6: JWT Authentication Hands-On</vt:lpstr>
      <vt:lpstr>How do we know our code actually works?</vt:lpstr>
      <vt:lpstr>Types of Tests</vt:lpstr>
      <vt:lpstr>The Testing Pyramid</vt:lpstr>
      <vt:lpstr>Testing in This Lab</vt:lpstr>
      <vt:lpstr>Automated Testing &amp; CI/CD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 Byrd</dc:creator>
  <cp:lastModifiedBy>Kuruzovich, Jason Nicholas</cp:lastModifiedBy>
  <cp:revision>3</cp:revision>
  <dcterms:created xsi:type="dcterms:W3CDTF">2024-03-21T15:18:40Z</dcterms:created>
  <dcterms:modified xsi:type="dcterms:W3CDTF">2026-03-10T14:00:25Z</dcterms:modified>
</cp:coreProperties>
</file>